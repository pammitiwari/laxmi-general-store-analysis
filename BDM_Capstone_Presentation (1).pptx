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9144000"/>
  <p:notesSz cx="6858000" cy="9144000"/>
  <p:embeddedFontLst>
    <p:embeddedFont>
      <p:font typeface="Playfair Display"/>
      <p:regular r:id="rId16"/>
      <p:bold r:id="rId17"/>
      <p:italic r:id="rId18"/>
      <p:boldItalic r:id="rId19"/>
    </p:embeddedFont>
    <p:embeddedFont>
      <p:font typeface="Lato"/>
      <p:regular r:id="rId20"/>
      <p:bold r:id="rId21"/>
      <p:italic r:id="rId22"/>
      <p:boldItalic r:id="rId23"/>
    </p:embeddedFont>
    <p:embeddedFont>
      <p:font typeface="Roboto Mon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22" Type="http://schemas.openxmlformats.org/officeDocument/2006/relationships/font" Target="fonts/Lato-italic.fntdata"/><Relationship Id="rId21" Type="http://schemas.openxmlformats.org/officeDocument/2006/relationships/font" Target="fonts/Lato-bold.fntdata"/><Relationship Id="rId24" Type="http://schemas.openxmlformats.org/officeDocument/2006/relationships/font" Target="fonts/RobotoMono-regular.fntdata"/><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Mono-italic.fntdata"/><Relationship Id="rId25" Type="http://schemas.openxmlformats.org/officeDocument/2006/relationships/font" Target="fonts/RobotoMono-bold.fntdata"/><Relationship Id="rId27"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layfairDisplay-bold.fntdata"/><Relationship Id="rId16" Type="http://schemas.openxmlformats.org/officeDocument/2006/relationships/font" Target="fonts/PlayfairDisplay-regular.fntdata"/><Relationship Id="rId19" Type="http://schemas.openxmlformats.org/officeDocument/2006/relationships/font" Target="fonts/PlayfairDisplay-boldItalic.fntdata"/><Relationship Id="rId18" Type="http://schemas.openxmlformats.org/officeDocument/2006/relationships/font" Target="fonts/PlayfairDisplay-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62d16a39a_0_12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262d16a39a_0_1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62d16a39a_0_1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262d16a39a_0_1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262d16a39a_0_1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262d16a39a_0_1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262d16a39a_0_1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262d16a39a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262d16a39a_0_13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262d16a39a_0_1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586721" y="0"/>
            <a:ext cx="7970700" cy="8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586721" y="6769200"/>
            <a:ext cx="7970700" cy="8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 name="Google Shape;12;p2"/>
          <p:cNvCxnSpPr/>
          <p:nvPr/>
        </p:nvCxnSpPr>
        <p:spPr>
          <a:xfrm>
            <a:off x="733219" y="2980467"/>
            <a:ext cx="385200" cy="0"/>
          </a:xfrm>
          <a:prstGeom prst="straightConnector1">
            <a:avLst/>
          </a:prstGeom>
          <a:noFill/>
          <a:ln cap="flat" cmpd="sng" w="28575">
            <a:solidFill>
              <a:schemeClr val="dk1"/>
            </a:solidFill>
            <a:prstDash val="solid"/>
            <a:round/>
            <a:headEnd len="sm" w="sm" type="none"/>
            <a:tailEnd len="sm" w="sm" type="none"/>
          </a:ln>
        </p:spPr>
      </p:cxnSp>
      <p:sp>
        <p:nvSpPr>
          <p:cNvPr id="13" name="Google Shape;13;p2"/>
          <p:cNvSpPr txBox="1"/>
          <p:nvPr>
            <p:ph type="ctrTitle"/>
          </p:nvPr>
        </p:nvSpPr>
        <p:spPr>
          <a:xfrm>
            <a:off x="630600" y="182400"/>
            <a:ext cx="7893000" cy="2471700"/>
          </a:xfrm>
          <a:prstGeom prst="rect">
            <a:avLst/>
          </a:prstGeom>
        </p:spPr>
        <p:txBody>
          <a:bodyPr anchorCtr="0" anchor="b" bIns="91425" lIns="91425" spcFirstLastPara="1" rIns="91425" wrap="square" tIns="91425">
            <a:normAutofit/>
          </a:bodyPr>
          <a:lstStyle>
            <a:lvl1pPr lvl="0">
              <a:spcBef>
                <a:spcPts val="100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4" name="Google Shape;14;p2"/>
          <p:cNvSpPr txBox="1"/>
          <p:nvPr>
            <p:ph idx="1" type="subTitle"/>
          </p:nvPr>
        </p:nvSpPr>
        <p:spPr>
          <a:xfrm>
            <a:off x="630600" y="4304500"/>
            <a:ext cx="7893000" cy="1698900"/>
          </a:xfrm>
          <a:prstGeom prst="rect">
            <a:avLst/>
          </a:prstGeom>
        </p:spPr>
        <p:txBody>
          <a:bodyPr anchorCtr="0" anchor="b" bIns="91425" lIns="91425" spcFirstLastPara="1" rIns="91425" wrap="square" tIns="91425">
            <a:normAutofit/>
          </a:bodyPr>
          <a:lstStyle>
            <a:lvl1pPr lvl="0">
              <a:lnSpc>
                <a:spcPct val="100000"/>
              </a:lnSpc>
              <a:spcBef>
                <a:spcPts val="1000"/>
              </a:spcBef>
              <a:spcAft>
                <a:spcPts val="0"/>
              </a:spcAft>
              <a:buClr>
                <a:schemeClr val="accent6"/>
              </a:buClr>
              <a:buSzPts val="2400"/>
              <a:buNone/>
              <a:defRPr sz="2400">
                <a:solidFill>
                  <a:schemeClr val="accent6"/>
                </a:solidFill>
              </a:defRPr>
            </a:lvl1pPr>
            <a:lvl2pPr lvl="1">
              <a:lnSpc>
                <a:spcPct val="100000"/>
              </a:lnSpc>
              <a:spcBef>
                <a:spcPts val="0"/>
              </a:spcBef>
              <a:spcAft>
                <a:spcPts val="0"/>
              </a:spcAft>
              <a:buClr>
                <a:schemeClr val="accent6"/>
              </a:buClr>
              <a:buSzPts val="2400"/>
              <a:buNone/>
              <a:defRPr sz="2400">
                <a:solidFill>
                  <a:schemeClr val="accent6"/>
                </a:solidFill>
              </a:defRPr>
            </a:lvl2pPr>
            <a:lvl3pPr lvl="2">
              <a:lnSpc>
                <a:spcPct val="100000"/>
              </a:lnSpc>
              <a:spcBef>
                <a:spcPts val="0"/>
              </a:spcBef>
              <a:spcAft>
                <a:spcPts val="0"/>
              </a:spcAft>
              <a:buClr>
                <a:schemeClr val="accent6"/>
              </a:buClr>
              <a:buSzPts val="2400"/>
              <a:buNone/>
              <a:defRPr sz="2400">
                <a:solidFill>
                  <a:schemeClr val="accent6"/>
                </a:solidFill>
              </a:defRPr>
            </a:lvl3pPr>
            <a:lvl4pPr lvl="3">
              <a:lnSpc>
                <a:spcPct val="100000"/>
              </a:lnSpc>
              <a:spcBef>
                <a:spcPts val="0"/>
              </a:spcBef>
              <a:spcAft>
                <a:spcPts val="0"/>
              </a:spcAft>
              <a:buClr>
                <a:schemeClr val="accent6"/>
              </a:buClr>
              <a:buSzPts val="2400"/>
              <a:buNone/>
              <a:defRPr sz="2400">
                <a:solidFill>
                  <a:schemeClr val="accent6"/>
                </a:solidFill>
              </a:defRPr>
            </a:lvl4pPr>
            <a:lvl5pPr lvl="4">
              <a:lnSpc>
                <a:spcPct val="100000"/>
              </a:lnSpc>
              <a:spcBef>
                <a:spcPts val="0"/>
              </a:spcBef>
              <a:spcAft>
                <a:spcPts val="0"/>
              </a:spcAft>
              <a:buClr>
                <a:schemeClr val="accent6"/>
              </a:buClr>
              <a:buSzPts val="2400"/>
              <a:buNone/>
              <a:defRPr sz="2400">
                <a:solidFill>
                  <a:schemeClr val="accent6"/>
                </a:solidFill>
              </a:defRPr>
            </a:lvl5pPr>
            <a:lvl6pPr lvl="5">
              <a:lnSpc>
                <a:spcPct val="100000"/>
              </a:lnSpc>
              <a:spcBef>
                <a:spcPts val="0"/>
              </a:spcBef>
              <a:spcAft>
                <a:spcPts val="0"/>
              </a:spcAft>
              <a:buClr>
                <a:schemeClr val="accent6"/>
              </a:buClr>
              <a:buSzPts val="2400"/>
              <a:buNone/>
              <a:defRPr sz="2400">
                <a:solidFill>
                  <a:schemeClr val="accent6"/>
                </a:solidFill>
              </a:defRPr>
            </a:lvl6pPr>
            <a:lvl7pPr lvl="6">
              <a:lnSpc>
                <a:spcPct val="100000"/>
              </a:lnSpc>
              <a:spcBef>
                <a:spcPts val="0"/>
              </a:spcBef>
              <a:spcAft>
                <a:spcPts val="0"/>
              </a:spcAft>
              <a:buClr>
                <a:schemeClr val="accent6"/>
              </a:buClr>
              <a:buSzPts val="2400"/>
              <a:buNone/>
              <a:defRPr sz="2400">
                <a:solidFill>
                  <a:schemeClr val="accent6"/>
                </a:solidFill>
              </a:defRPr>
            </a:lvl7pPr>
            <a:lvl8pPr lvl="7">
              <a:lnSpc>
                <a:spcPct val="100000"/>
              </a:lnSpc>
              <a:spcBef>
                <a:spcPts val="0"/>
              </a:spcBef>
              <a:spcAft>
                <a:spcPts val="0"/>
              </a:spcAft>
              <a:buClr>
                <a:schemeClr val="accent6"/>
              </a:buClr>
              <a:buSzPts val="2400"/>
              <a:buNone/>
              <a:defRPr sz="2400">
                <a:solidFill>
                  <a:schemeClr val="accent6"/>
                </a:solidFill>
              </a:defRPr>
            </a:lvl8pPr>
            <a:lvl9pPr lvl="8">
              <a:lnSpc>
                <a:spcPct val="100000"/>
              </a:lnSpc>
              <a:spcBef>
                <a:spcPts val="0"/>
              </a:spcBef>
              <a:spcAft>
                <a:spcPts val="0"/>
              </a:spcAft>
              <a:buClr>
                <a:schemeClr val="accent6"/>
              </a:buClr>
              <a:buSzPts val="2400"/>
              <a:buNone/>
              <a:defRPr sz="2400">
                <a:solidFill>
                  <a:schemeClr val="accent6"/>
                </a:solidFill>
              </a:defRPr>
            </a:lvl9pPr>
          </a:lstStyle>
          <a:p/>
        </p:txBody>
      </p:sp>
      <p:sp>
        <p:nvSpPr>
          <p:cNvPr id="15" name="Google Shape;15;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586721" y="6769200"/>
            <a:ext cx="7970700" cy="8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86721" y="0"/>
            <a:ext cx="7970700" cy="8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txBox="1"/>
          <p:nvPr>
            <p:ph type="title"/>
          </p:nvPr>
        </p:nvSpPr>
        <p:spPr>
          <a:xfrm>
            <a:off x="509550" y="2561800"/>
            <a:ext cx="8124900" cy="1734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0" name="Google Shape;20;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a:off x="-125" y="6727600"/>
            <a:ext cx="9144000" cy="1305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3" name="Google Shape;23;p4"/>
          <p:cNvCxnSpPr/>
          <p:nvPr/>
        </p:nvCxnSpPr>
        <p:spPr>
          <a:xfrm>
            <a:off x="419425" y="1538926"/>
            <a:ext cx="385200" cy="0"/>
          </a:xfrm>
          <a:prstGeom prst="straightConnector1">
            <a:avLst/>
          </a:prstGeom>
          <a:noFill/>
          <a:ln cap="flat" cmpd="sng" w="28575">
            <a:solidFill>
              <a:schemeClr val="dk1"/>
            </a:solidFill>
            <a:prstDash val="solid"/>
            <a:round/>
            <a:headEnd len="sm" w="sm" type="none"/>
            <a:tailEnd len="sm" w="sm" type="none"/>
          </a:ln>
        </p:spPr>
      </p:cxnSp>
      <p:sp>
        <p:nvSpPr>
          <p:cNvPr id="24" name="Google Shape;24;p4"/>
          <p:cNvSpPr txBox="1"/>
          <p:nvPr>
            <p:ph type="title"/>
          </p:nvPr>
        </p:nvSpPr>
        <p:spPr>
          <a:xfrm>
            <a:off x="311700" y="496967"/>
            <a:ext cx="8520600" cy="860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5" name="Google Shape;25;p4"/>
          <p:cNvSpPr txBox="1"/>
          <p:nvPr>
            <p:ph idx="1" type="body"/>
          </p:nvPr>
        </p:nvSpPr>
        <p:spPr>
          <a:xfrm>
            <a:off x="311700" y="1890400"/>
            <a:ext cx="8520600" cy="4201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6" name="Google Shape;26;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cxnSp>
        <p:nvCxnSpPr>
          <p:cNvPr id="28" name="Google Shape;28;p5"/>
          <p:cNvCxnSpPr/>
          <p:nvPr/>
        </p:nvCxnSpPr>
        <p:spPr>
          <a:xfrm>
            <a:off x="419425" y="1538926"/>
            <a:ext cx="385200" cy="0"/>
          </a:xfrm>
          <a:prstGeom prst="straightConnector1">
            <a:avLst/>
          </a:prstGeom>
          <a:noFill/>
          <a:ln cap="flat" cmpd="sng" w="28575">
            <a:solidFill>
              <a:schemeClr val="dk1"/>
            </a:solidFill>
            <a:prstDash val="solid"/>
            <a:round/>
            <a:headEnd len="sm" w="sm" type="none"/>
            <a:tailEnd len="sm" w="sm" type="none"/>
          </a:ln>
        </p:spPr>
      </p:cxnSp>
      <p:sp>
        <p:nvSpPr>
          <p:cNvPr id="29" name="Google Shape;29;p5"/>
          <p:cNvSpPr txBox="1"/>
          <p:nvPr>
            <p:ph type="title"/>
          </p:nvPr>
        </p:nvSpPr>
        <p:spPr>
          <a:xfrm>
            <a:off x="311700" y="496967"/>
            <a:ext cx="8520600" cy="860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0" name="Google Shape;30;p5"/>
          <p:cNvSpPr txBox="1"/>
          <p:nvPr>
            <p:ph idx="1" type="body"/>
          </p:nvPr>
        </p:nvSpPr>
        <p:spPr>
          <a:xfrm>
            <a:off x="311700" y="1890600"/>
            <a:ext cx="3999900" cy="4201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5"/>
          <p:cNvSpPr txBox="1"/>
          <p:nvPr>
            <p:ph idx="2" type="body"/>
          </p:nvPr>
        </p:nvSpPr>
        <p:spPr>
          <a:xfrm>
            <a:off x="4832400" y="1890600"/>
            <a:ext cx="3999900" cy="4201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3" name="Shape 33"/>
        <p:cNvGrpSpPr/>
        <p:nvPr/>
      </p:nvGrpSpPr>
      <p:grpSpPr>
        <a:xfrm>
          <a:off x="0" y="0"/>
          <a:ext cx="0" cy="0"/>
          <a:chOff x="0" y="0"/>
          <a:chExt cx="0" cy="0"/>
        </a:xfrm>
      </p:grpSpPr>
      <p:sp>
        <p:nvSpPr>
          <p:cNvPr id="34" name="Google Shape;34;p6"/>
          <p:cNvSpPr txBox="1"/>
          <p:nvPr>
            <p:ph type="title"/>
          </p:nvPr>
        </p:nvSpPr>
        <p:spPr>
          <a:xfrm>
            <a:off x="311700" y="496967"/>
            <a:ext cx="8520600" cy="860100"/>
          </a:xfrm>
          <a:prstGeom prst="rect">
            <a:avLst/>
          </a:prstGeom>
        </p:spPr>
        <p:txBody>
          <a:bodyPr anchorCtr="0" anchor="t"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35" name="Google Shape;35;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cxnSp>
        <p:nvCxnSpPr>
          <p:cNvPr id="37" name="Google Shape;37;p7"/>
          <p:cNvCxnSpPr/>
          <p:nvPr/>
        </p:nvCxnSpPr>
        <p:spPr>
          <a:xfrm>
            <a:off x="411044" y="1890363"/>
            <a:ext cx="385200" cy="0"/>
          </a:xfrm>
          <a:prstGeom prst="straightConnector1">
            <a:avLst/>
          </a:prstGeom>
          <a:noFill/>
          <a:ln cap="flat" cmpd="sng" w="28575">
            <a:solidFill>
              <a:schemeClr val="dk1"/>
            </a:solidFill>
            <a:prstDash val="solid"/>
            <a:round/>
            <a:headEnd len="sm" w="sm" type="none"/>
            <a:tailEnd len="sm" w="sm" type="none"/>
          </a:ln>
        </p:spPr>
      </p:cxnSp>
      <p:sp>
        <p:nvSpPr>
          <p:cNvPr id="38" name="Google Shape;38;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9" name="Google Shape;39;p7"/>
          <p:cNvSpPr txBox="1"/>
          <p:nvPr>
            <p:ph idx="1" type="body"/>
          </p:nvPr>
        </p:nvSpPr>
        <p:spPr>
          <a:xfrm>
            <a:off x="311700" y="2187133"/>
            <a:ext cx="2808000" cy="3905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0" name="Google Shape;40;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1" name="Shape 41"/>
        <p:cNvGrpSpPr/>
        <p:nvPr/>
      </p:nvGrpSpPr>
      <p:grpSpPr>
        <a:xfrm>
          <a:off x="0" y="0"/>
          <a:ext cx="0" cy="0"/>
          <a:chOff x="0" y="0"/>
          <a:chExt cx="0" cy="0"/>
        </a:xfrm>
      </p:grpSpPr>
      <p:sp>
        <p:nvSpPr>
          <p:cNvPr id="42" name="Google Shape;42;p8"/>
          <p:cNvSpPr/>
          <p:nvPr/>
        </p:nvSpPr>
        <p:spPr>
          <a:xfrm>
            <a:off x="586721" y="0"/>
            <a:ext cx="7970700" cy="8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8"/>
          <p:cNvSpPr/>
          <p:nvPr/>
        </p:nvSpPr>
        <p:spPr>
          <a:xfrm>
            <a:off x="586721" y="6769200"/>
            <a:ext cx="7970700" cy="8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8"/>
          <p:cNvSpPr txBox="1"/>
          <p:nvPr>
            <p:ph type="title"/>
          </p:nvPr>
        </p:nvSpPr>
        <p:spPr>
          <a:xfrm>
            <a:off x="490250" y="701800"/>
            <a:ext cx="56187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45" name="Google Shape;45;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9"/>
          <p:cNvSpPr/>
          <p:nvPr/>
        </p:nvSpPr>
        <p:spPr>
          <a:xfrm>
            <a:off x="4572000" y="-133"/>
            <a:ext cx="4572000" cy="6858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9"/>
          <p:cNvCxnSpPr/>
          <p:nvPr/>
        </p:nvCxnSpPr>
        <p:spPr>
          <a:xfrm>
            <a:off x="5029675" y="5994000"/>
            <a:ext cx="468300" cy="0"/>
          </a:xfrm>
          <a:prstGeom prst="straightConnector1">
            <a:avLst/>
          </a:prstGeom>
          <a:noFill/>
          <a:ln cap="flat" cmpd="sng" w="19050">
            <a:solidFill>
              <a:schemeClr val="lt1"/>
            </a:solidFill>
            <a:prstDash val="solid"/>
            <a:round/>
            <a:headEnd len="sm" w="sm" type="none"/>
            <a:tailEnd len="sm" w="sm" type="none"/>
          </a:ln>
        </p:spPr>
      </p:cxnSp>
      <p:sp>
        <p:nvSpPr>
          <p:cNvPr id="49" name="Google Shape;49;p9"/>
          <p:cNvSpPr txBox="1"/>
          <p:nvPr>
            <p:ph type="title"/>
          </p:nvPr>
        </p:nvSpPr>
        <p:spPr>
          <a:xfrm>
            <a:off x="265500" y="1446167"/>
            <a:ext cx="4045200" cy="2276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0" name="Google Shape;50;p9"/>
          <p:cNvSpPr txBox="1"/>
          <p:nvPr>
            <p:ph idx="1" type="subTitle"/>
          </p:nvPr>
        </p:nvSpPr>
        <p:spPr>
          <a:xfrm>
            <a:off x="265500" y="3793600"/>
            <a:ext cx="4045200" cy="1895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6"/>
              </a:buClr>
              <a:buSzPts val="2100"/>
              <a:buNone/>
              <a:defRPr sz="2100">
                <a:solidFill>
                  <a:schemeClr val="accent6"/>
                </a:solidFill>
              </a:defRPr>
            </a:lvl1pPr>
            <a:lvl2pPr lvl="1" algn="ctr">
              <a:lnSpc>
                <a:spcPct val="100000"/>
              </a:lnSpc>
              <a:spcBef>
                <a:spcPts val="0"/>
              </a:spcBef>
              <a:spcAft>
                <a:spcPts val="0"/>
              </a:spcAft>
              <a:buClr>
                <a:schemeClr val="accent6"/>
              </a:buClr>
              <a:buSzPts val="2100"/>
              <a:buNone/>
              <a:defRPr sz="2100">
                <a:solidFill>
                  <a:schemeClr val="accent6"/>
                </a:solidFill>
              </a:defRPr>
            </a:lvl2pPr>
            <a:lvl3pPr lvl="2" algn="ctr">
              <a:lnSpc>
                <a:spcPct val="100000"/>
              </a:lnSpc>
              <a:spcBef>
                <a:spcPts val="0"/>
              </a:spcBef>
              <a:spcAft>
                <a:spcPts val="0"/>
              </a:spcAft>
              <a:buClr>
                <a:schemeClr val="accent6"/>
              </a:buClr>
              <a:buSzPts val="2100"/>
              <a:buNone/>
              <a:defRPr sz="2100">
                <a:solidFill>
                  <a:schemeClr val="accent6"/>
                </a:solidFill>
              </a:defRPr>
            </a:lvl3pPr>
            <a:lvl4pPr lvl="3" algn="ctr">
              <a:lnSpc>
                <a:spcPct val="100000"/>
              </a:lnSpc>
              <a:spcBef>
                <a:spcPts val="0"/>
              </a:spcBef>
              <a:spcAft>
                <a:spcPts val="0"/>
              </a:spcAft>
              <a:buClr>
                <a:schemeClr val="accent6"/>
              </a:buClr>
              <a:buSzPts val="2100"/>
              <a:buNone/>
              <a:defRPr sz="2100">
                <a:solidFill>
                  <a:schemeClr val="accent6"/>
                </a:solidFill>
              </a:defRPr>
            </a:lvl4pPr>
            <a:lvl5pPr lvl="4" algn="ctr">
              <a:lnSpc>
                <a:spcPct val="100000"/>
              </a:lnSpc>
              <a:spcBef>
                <a:spcPts val="0"/>
              </a:spcBef>
              <a:spcAft>
                <a:spcPts val="0"/>
              </a:spcAft>
              <a:buClr>
                <a:schemeClr val="accent6"/>
              </a:buClr>
              <a:buSzPts val="2100"/>
              <a:buNone/>
              <a:defRPr sz="2100">
                <a:solidFill>
                  <a:schemeClr val="accent6"/>
                </a:solidFill>
              </a:defRPr>
            </a:lvl5pPr>
            <a:lvl6pPr lvl="5" algn="ctr">
              <a:lnSpc>
                <a:spcPct val="100000"/>
              </a:lnSpc>
              <a:spcBef>
                <a:spcPts val="0"/>
              </a:spcBef>
              <a:spcAft>
                <a:spcPts val="0"/>
              </a:spcAft>
              <a:buClr>
                <a:schemeClr val="accent6"/>
              </a:buClr>
              <a:buSzPts val="2100"/>
              <a:buNone/>
              <a:defRPr sz="2100">
                <a:solidFill>
                  <a:schemeClr val="accent6"/>
                </a:solidFill>
              </a:defRPr>
            </a:lvl6pPr>
            <a:lvl7pPr lvl="6" algn="ctr">
              <a:lnSpc>
                <a:spcPct val="100000"/>
              </a:lnSpc>
              <a:spcBef>
                <a:spcPts val="0"/>
              </a:spcBef>
              <a:spcAft>
                <a:spcPts val="0"/>
              </a:spcAft>
              <a:buClr>
                <a:schemeClr val="accent6"/>
              </a:buClr>
              <a:buSzPts val="2100"/>
              <a:buNone/>
              <a:defRPr sz="2100">
                <a:solidFill>
                  <a:schemeClr val="accent6"/>
                </a:solidFill>
              </a:defRPr>
            </a:lvl7pPr>
            <a:lvl8pPr lvl="7" algn="ctr">
              <a:lnSpc>
                <a:spcPct val="100000"/>
              </a:lnSpc>
              <a:spcBef>
                <a:spcPts val="0"/>
              </a:spcBef>
              <a:spcAft>
                <a:spcPts val="0"/>
              </a:spcAft>
              <a:buClr>
                <a:schemeClr val="accent6"/>
              </a:buClr>
              <a:buSzPts val="2100"/>
              <a:buNone/>
              <a:defRPr sz="2100">
                <a:solidFill>
                  <a:schemeClr val="accent6"/>
                </a:solidFill>
              </a:defRPr>
            </a:lvl8pPr>
            <a:lvl9pPr lvl="8" algn="ctr">
              <a:lnSpc>
                <a:spcPct val="100000"/>
              </a:lnSpc>
              <a:spcBef>
                <a:spcPts val="0"/>
              </a:spcBef>
              <a:spcAft>
                <a:spcPts val="0"/>
              </a:spcAft>
              <a:buClr>
                <a:schemeClr val="accent6"/>
              </a:buClr>
              <a:buSzPts val="2100"/>
              <a:buNone/>
              <a:defRPr sz="2100">
                <a:solidFill>
                  <a:schemeClr val="accent6"/>
                </a:solidFill>
              </a:defRPr>
            </a:lvl9pPr>
          </a:lstStyle>
          <a:p/>
        </p:txBody>
      </p:sp>
      <p:sp>
        <p:nvSpPr>
          <p:cNvPr id="51" name="Google Shape;51;p9"/>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defRPr>
            </a:lvl1pPr>
            <a:lvl2pPr indent="-317500" lvl="1" marL="914400">
              <a:spcBef>
                <a:spcPts val="0"/>
              </a:spcBef>
              <a:spcAft>
                <a:spcPts val="0"/>
              </a:spcAft>
              <a:buClr>
                <a:schemeClr val="accent1"/>
              </a:buClr>
              <a:buSzPts val="1400"/>
              <a:buChar char="○"/>
              <a:defRPr>
                <a:solidFill>
                  <a:schemeClr val="accent1"/>
                </a:solidFill>
              </a:defRPr>
            </a:lvl2pPr>
            <a:lvl3pPr indent="-317500" lvl="2" marL="1371600">
              <a:spcBef>
                <a:spcPts val="0"/>
              </a:spcBef>
              <a:spcAft>
                <a:spcPts val="0"/>
              </a:spcAft>
              <a:buClr>
                <a:schemeClr val="accent1"/>
              </a:buClr>
              <a:buSzPts val="1400"/>
              <a:buChar char="■"/>
              <a:defRPr>
                <a:solidFill>
                  <a:schemeClr val="accent1"/>
                </a:solidFill>
              </a:defRPr>
            </a:lvl3pPr>
            <a:lvl4pPr indent="-317500" lvl="3" marL="1828800">
              <a:spcBef>
                <a:spcPts val="0"/>
              </a:spcBef>
              <a:spcAft>
                <a:spcPts val="0"/>
              </a:spcAft>
              <a:buClr>
                <a:schemeClr val="accent1"/>
              </a:buClr>
              <a:buSzPts val="1400"/>
              <a:buChar char="●"/>
              <a:defRPr>
                <a:solidFill>
                  <a:schemeClr val="accent1"/>
                </a:solidFill>
              </a:defRPr>
            </a:lvl4pPr>
            <a:lvl5pPr indent="-317500" lvl="4" marL="2286000">
              <a:spcBef>
                <a:spcPts val="0"/>
              </a:spcBef>
              <a:spcAft>
                <a:spcPts val="0"/>
              </a:spcAft>
              <a:buClr>
                <a:schemeClr val="accent1"/>
              </a:buClr>
              <a:buSzPts val="1400"/>
              <a:buChar char="○"/>
              <a:defRPr>
                <a:solidFill>
                  <a:schemeClr val="accent1"/>
                </a:solidFill>
              </a:defRPr>
            </a:lvl5pPr>
            <a:lvl6pPr indent="-317500" lvl="5" marL="2743200">
              <a:spcBef>
                <a:spcPts val="0"/>
              </a:spcBef>
              <a:spcAft>
                <a:spcPts val="0"/>
              </a:spcAft>
              <a:buClr>
                <a:schemeClr val="accent1"/>
              </a:buClr>
              <a:buSzPts val="1400"/>
              <a:buChar char="■"/>
              <a:defRPr>
                <a:solidFill>
                  <a:schemeClr val="accent1"/>
                </a:solidFill>
              </a:defRPr>
            </a:lvl6pPr>
            <a:lvl7pPr indent="-317500" lvl="6" marL="3200400">
              <a:spcBef>
                <a:spcPts val="0"/>
              </a:spcBef>
              <a:spcAft>
                <a:spcPts val="0"/>
              </a:spcAft>
              <a:buClr>
                <a:schemeClr val="accent1"/>
              </a:buClr>
              <a:buSzPts val="1400"/>
              <a:buChar char="●"/>
              <a:defRPr>
                <a:solidFill>
                  <a:schemeClr val="accent1"/>
                </a:solidFill>
              </a:defRPr>
            </a:lvl7pPr>
            <a:lvl8pPr indent="-317500" lvl="7" marL="3657600">
              <a:spcBef>
                <a:spcPts val="0"/>
              </a:spcBef>
              <a:spcAft>
                <a:spcPts val="0"/>
              </a:spcAft>
              <a:buClr>
                <a:schemeClr val="accent1"/>
              </a:buClr>
              <a:buSzPts val="1400"/>
              <a:buChar char="○"/>
              <a:defRPr>
                <a:solidFill>
                  <a:schemeClr val="accent1"/>
                </a:solidFill>
              </a:defRPr>
            </a:lvl8pPr>
            <a:lvl9pPr indent="-317500" lvl="8" marL="4114800">
              <a:spcBef>
                <a:spcPts val="0"/>
              </a:spcBef>
              <a:spcAft>
                <a:spcPts val="0"/>
              </a:spcAft>
              <a:buClr>
                <a:schemeClr val="accent1"/>
              </a:buClr>
              <a:buSzPts val="1400"/>
              <a:buChar char="■"/>
              <a:defRPr>
                <a:solidFill>
                  <a:schemeClr val="accent1"/>
                </a:solidFill>
              </a:defRPr>
            </a:lvl9pPr>
          </a:lstStyle>
          <a:p/>
        </p:txBody>
      </p:sp>
      <p:sp>
        <p:nvSpPr>
          <p:cNvPr id="52" name="Google Shape;52;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3" name="Shape 53"/>
        <p:cNvGrpSpPr/>
        <p:nvPr/>
      </p:nvGrpSpPr>
      <p:grpSpPr>
        <a:xfrm>
          <a:off x="0" y="0"/>
          <a:ext cx="0" cy="0"/>
          <a:chOff x="0" y="0"/>
          <a:chExt cx="0" cy="0"/>
        </a:xfrm>
      </p:grpSpPr>
      <p:sp>
        <p:nvSpPr>
          <p:cNvPr id="54" name="Google Shape;54;p10"/>
          <p:cNvSpPr txBox="1"/>
          <p:nvPr>
            <p:ph idx="1" type="body"/>
          </p:nvPr>
        </p:nvSpPr>
        <p:spPr>
          <a:xfrm>
            <a:off x="319500" y="5640767"/>
            <a:ext cx="5998800" cy="7983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5" name="Google Shape;55;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6" name="Shape 56"/>
        <p:cNvGrpSpPr/>
        <p:nvPr/>
      </p:nvGrpSpPr>
      <p:grpSpPr>
        <a:xfrm>
          <a:off x="0" y="0"/>
          <a:ext cx="0" cy="0"/>
          <a:chOff x="0" y="0"/>
          <a:chExt cx="0" cy="0"/>
        </a:xfrm>
      </p:grpSpPr>
      <p:sp>
        <p:nvSpPr>
          <p:cNvPr id="57" name="Google Shape;57;p11"/>
          <p:cNvSpPr/>
          <p:nvPr/>
        </p:nvSpPr>
        <p:spPr>
          <a:xfrm>
            <a:off x="586721" y="0"/>
            <a:ext cx="7970700" cy="888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1"/>
          <p:cNvSpPr/>
          <p:nvPr/>
        </p:nvSpPr>
        <p:spPr>
          <a:xfrm>
            <a:off x="586721" y="6769200"/>
            <a:ext cx="7970700" cy="888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1"/>
          <p:cNvSpPr txBox="1"/>
          <p:nvPr>
            <p:ph hasCustomPrompt="1" type="title"/>
          </p:nvPr>
        </p:nvSpPr>
        <p:spPr>
          <a:xfrm>
            <a:off x="586725" y="1805050"/>
            <a:ext cx="7970700" cy="2051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6"/>
              </a:buClr>
              <a:buSzPts val="10800"/>
              <a:buNone/>
              <a:defRPr sz="10800">
                <a:solidFill>
                  <a:schemeClr val="accent6"/>
                </a:solidFill>
              </a:defRPr>
            </a:lvl1pPr>
            <a:lvl2pPr lvl="1" algn="ctr">
              <a:spcBef>
                <a:spcPts val="0"/>
              </a:spcBef>
              <a:spcAft>
                <a:spcPts val="0"/>
              </a:spcAft>
              <a:buClr>
                <a:schemeClr val="accent6"/>
              </a:buClr>
              <a:buSzPts val="10800"/>
              <a:buNone/>
              <a:defRPr sz="10800">
                <a:solidFill>
                  <a:schemeClr val="accent6"/>
                </a:solidFill>
              </a:defRPr>
            </a:lvl2pPr>
            <a:lvl3pPr lvl="2" algn="ctr">
              <a:spcBef>
                <a:spcPts val="0"/>
              </a:spcBef>
              <a:spcAft>
                <a:spcPts val="0"/>
              </a:spcAft>
              <a:buClr>
                <a:schemeClr val="accent6"/>
              </a:buClr>
              <a:buSzPts val="10800"/>
              <a:buNone/>
              <a:defRPr sz="10800">
                <a:solidFill>
                  <a:schemeClr val="accent6"/>
                </a:solidFill>
              </a:defRPr>
            </a:lvl3pPr>
            <a:lvl4pPr lvl="3" algn="ctr">
              <a:spcBef>
                <a:spcPts val="0"/>
              </a:spcBef>
              <a:spcAft>
                <a:spcPts val="0"/>
              </a:spcAft>
              <a:buClr>
                <a:schemeClr val="accent6"/>
              </a:buClr>
              <a:buSzPts val="10800"/>
              <a:buNone/>
              <a:defRPr sz="10800">
                <a:solidFill>
                  <a:schemeClr val="accent6"/>
                </a:solidFill>
              </a:defRPr>
            </a:lvl4pPr>
            <a:lvl5pPr lvl="4" algn="ctr">
              <a:spcBef>
                <a:spcPts val="0"/>
              </a:spcBef>
              <a:spcAft>
                <a:spcPts val="0"/>
              </a:spcAft>
              <a:buClr>
                <a:schemeClr val="accent6"/>
              </a:buClr>
              <a:buSzPts val="10800"/>
              <a:buNone/>
              <a:defRPr sz="10800">
                <a:solidFill>
                  <a:schemeClr val="accent6"/>
                </a:solidFill>
              </a:defRPr>
            </a:lvl5pPr>
            <a:lvl6pPr lvl="5" algn="ctr">
              <a:spcBef>
                <a:spcPts val="0"/>
              </a:spcBef>
              <a:spcAft>
                <a:spcPts val="0"/>
              </a:spcAft>
              <a:buClr>
                <a:schemeClr val="accent6"/>
              </a:buClr>
              <a:buSzPts val="10800"/>
              <a:buNone/>
              <a:defRPr sz="10800">
                <a:solidFill>
                  <a:schemeClr val="accent6"/>
                </a:solidFill>
              </a:defRPr>
            </a:lvl6pPr>
            <a:lvl7pPr lvl="6" algn="ctr">
              <a:spcBef>
                <a:spcPts val="0"/>
              </a:spcBef>
              <a:spcAft>
                <a:spcPts val="0"/>
              </a:spcAft>
              <a:buClr>
                <a:schemeClr val="accent6"/>
              </a:buClr>
              <a:buSzPts val="10800"/>
              <a:buNone/>
              <a:defRPr sz="10800">
                <a:solidFill>
                  <a:schemeClr val="accent6"/>
                </a:solidFill>
              </a:defRPr>
            </a:lvl7pPr>
            <a:lvl8pPr lvl="7" algn="ctr">
              <a:spcBef>
                <a:spcPts val="0"/>
              </a:spcBef>
              <a:spcAft>
                <a:spcPts val="0"/>
              </a:spcAft>
              <a:buClr>
                <a:schemeClr val="accent6"/>
              </a:buClr>
              <a:buSzPts val="10800"/>
              <a:buNone/>
              <a:defRPr sz="10800">
                <a:solidFill>
                  <a:schemeClr val="accent6"/>
                </a:solidFill>
              </a:defRPr>
            </a:lvl8pPr>
            <a:lvl9pPr lvl="8" algn="ctr">
              <a:spcBef>
                <a:spcPts val="0"/>
              </a:spcBef>
              <a:spcAft>
                <a:spcPts val="0"/>
              </a:spcAft>
              <a:buClr>
                <a:schemeClr val="accent6"/>
              </a:buClr>
              <a:buSzPts val="10800"/>
              <a:buNone/>
              <a:defRPr sz="10800">
                <a:solidFill>
                  <a:schemeClr val="accent6"/>
                </a:solidFill>
              </a:defRPr>
            </a:lvl9pPr>
          </a:lstStyle>
          <a:p>
            <a:r>
              <a:t>xx%</a:t>
            </a:r>
          </a:p>
        </p:txBody>
      </p:sp>
      <p:sp>
        <p:nvSpPr>
          <p:cNvPr id="60" name="Google Shape;60;p11"/>
          <p:cNvSpPr txBox="1"/>
          <p:nvPr>
            <p:ph idx="1" type="body"/>
          </p:nvPr>
        </p:nvSpPr>
        <p:spPr>
          <a:xfrm>
            <a:off x="586725" y="3957850"/>
            <a:ext cx="7970700" cy="1428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1" name="Google Shape;61;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4" name="Shape 64"/>
        <p:cNvGrpSpPr/>
        <p:nvPr/>
      </p:nvGrpSpPr>
      <p:grpSpPr>
        <a:xfrm>
          <a:off x="0" y="0"/>
          <a:ext cx="0" cy="0"/>
          <a:chOff x="0" y="0"/>
          <a:chExt cx="0" cy="0"/>
        </a:xfrm>
      </p:grpSpPr>
      <p:sp>
        <p:nvSpPr>
          <p:cNvPr id="65" name="Google Shape;65;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66" name="Google Shape;66;p13"/>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1200"/>
              </a:spcBef>
              <a:spcAft>
                <a:spcPts val="0"/>
              </a:spcAft>
              <a:buClr>
                <a:schemeClr val="dk1"/>
              </a:buClr>
              <a:buSzPts val="2400"/>
              <a:buChar char="○"/>
              <a:defRPr sz="2400"/>
            </a:lvl2pPr>
            <a:lvl3pPr indent="-355600" lvl="2" marL="1371600" algn="l">
              <a:spcBef>
                <a:spcPts val="1200"/>
              </a:spcBef>
              <a:spcAft>
                <a:spcPts val="0"/>
              </a:spcAft>
              <a:buClr>
                <a:schemeClr val="dk1"/>
              </a:buClr>
              <a:buSzPts val="2000"/>
              <a:buChar char="■"/>
              <a:defRPr sz="2000"/>
            </a:lvl3pPr>
            <a:lvl4pPr indent="-342900" lvl="3" marL="1828800" algn="l">
              <a:spcBef>
                <a:spcPts val="1200"/>
              </a:spcBef>
              <a:spcAft>
                <a:spcPts val="0"/>
              </a:spcAft>
              <a:buClr>
                <a:schemeClr val="dk1"/>
              </a:buClr>
              <a:buSzPts val="1800"/>
              <a:buChar char="●"/>
              <a:defRPr sz="1800"/>
            </a:lvl4pPr>
            <a:lvl5pPr indent="-342900" lvl="4" marL="2286000" algn="l">
              <a:spcBef>
                <a:spcPts val="1200"/>
              </a:spcBef>
              <a:spcAft>
                <a:spcPts val="0"/>
              </a:spcAft>
              <a:buClr>
                <a:schemeClr val="dk1"/>
              </a:buClr>
              <a:buSzPts val="1800"/>
              <a:buChar char="○"/>
              <a:defRPr sz="1800"/>
            </a:lvl5pPr>
            <a:lvl6pPr indent="-342900" lvl="5" marL="2743200" algn="l">
              <a:spcBef>
                <a:spcPts val="120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7" name="Google Shape;67;p13"/>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1200"/>
              </a:spcBef>
              <a:spcAft>
                <a:spcPts val="0"/>
              </a:spcAft>
              <a:buClr>
                <a:schemeClr val="dk1"/>
              </a:buClr>
              <a:buSzPts val="2400"/>
              <a:buChar char="○"/>
              <a:defRPr sz="2400"/>
            </a:lvl2pPr>
            <a:lvl3pPr indent="-355600" lvl="2" marL="1371600" algn="l">
              <a:spcBef>
                <a:spcPts val="1200"/>
              </a:spcBef>
              <a:spcAft>
                <a:spcPts val="0"/>
              </a:spcAft>
              <a:buClr>
                <a:schemeClr val="dk1"/>
              </a:buClr>
              <a:buSzPts val="2000"/>
              <a:buChar char="■"/>
              <a:defRPr sz="2000"/>
            </a:lvl3pPr>
            <a:lvl4pPr indent="-342900" lvl="3" marL="1828800" algn="l">
              <a:spcBef>
                <a:spcPts val="1200"/>
              </a:spcBef>
              <a:spcAft>
                <a:spcPts val="0"/>
              </a:spcAft>
              <a:buClr>
                <a:schemeClr val="dk1"/>
              </a:buClr>
              <a:buSzPts val="1800"/>
              <a:buChar char="●"/>
              <a:defRPr sz="1800"/>
            </a:lvl4pPr>
            <a:lvl5pPr indent="-342900" lvl="4" marL="2286000" algn="l">
              <a:spcBef>
                <a:spcPts val="1200"/>
              </a:spcBef>
              <a:spcAft>
                <a:spcPts val="0"/>
              </a:spcAft>
              <a:buClr>
                <a:schemeClr val="dk1"/>
              </a:buClr>
              <a:buSzPts val="1800"/>
              <a:buChar char="○"/>
              <a:defRPr sz="1800"/>
            </a:lvl5pPr>
            <a:lvl6pPr indent="-342900" lvl="5" marL="2743200" algn="l">
              <a:spcBef>
                <a:spcPts val="1200"/>
              </a:spcBef>
              <a:spcAft>
                <a:spcPts val="0"/>
              </a:spcAft>
              <a:buClr>
                <a:schemeClr val="dk1"/>
              </a:buClr>
              <a:buSzPts val="1800"/>
              <a:buChar char="■"/>
              <a:defRPr sz="1800"/>
            </a:lvl6pPr>
            <a:lvl7pPr indent="-342900" lvl="6" marL="3200400" algn="l">
              <a:spcBef>
                <a:spcPts val="1200"/>
              </a:spcBef>
              <a:spcAft>
                <a:spcPts val="0"/>
              </a:spcAft>
              <a:buClr>
                <a:schemeClr val="dk1"/>
              </a:buClr>
              <a:buSzPts val="1800"/>
              <a:buChar char="●"/>
              <a:defRPr sz="1800"/>
            </a:lvl7pPr>
            <a:lvl8pPr indent="-342900" lvl="7" marL="3657600" algn="l">
              <a:spcBef>
                <a:spcPts val="1200"/>
              </a:spcBef>
              <a:spcAft>
                <a:spcPts val="0"/>
              </a:spcAft>
              <a:buClr>
                <a:schemeClr val="dk1"/>
              </a:buClr>
              <a:buSzPts val="1800"/>
              <a:buChar char="○"/>
              <a:defRPr sz="1800"/>
            </a:lvl8pPr>
            <a:lvl9pPr indent="-342900" lvl="8" marL="4114800" algn="l">
              <a:spcBef>
                <a:spcPts val="1200"/>
              </a:spcBef>
              <a:spcAft>
                <a:spcPts val="1200"/>
              </a:spcAft>
              <a:buClr>
                <a:schemeClr val="dk1"/>
              </a:buClr>
              <a:buSzPts val="1800"/>
              <a:buChar char="■"/>
              <a:defRPr sz="1800"/>
            </a:lvl9pPr>
          </a:lstStyle>
          <a:p/>
        </p:txBody>
      </p:sp>
      <p:sp>
        <p:nvSpPr>
          <p:cNvPr id="68" name="Google Shape;68;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1" name="Shape 71"/>
        <p:cNvGrpSpPr/>
        <p:nvPr/>
      </p:nvGrpSpPr>
      <p:grpSpPr>
        <a:xfrm>
          <a:off x="0" y="0"/>
          <a:ext cx="0" cy="0"/>
          <a:chOff x="0" y="0"/>
          <a:chExt cx="0" cy="0"/>
        </a:xfrm>
      </p:grpSpPr>
      <p:sp>
        <p:nvSpPr>
          <p:cNvPr id="72" name="Google Shape;72;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73" name="Google Shape;73;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74" name="Google Shape;74;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lue-go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96967"/>
            <a:ext cx="8520600" cy="8601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2pPr>
            <a:lvl3pPr lvl="2">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3pPr>
            <a:lvl4pPr lvl="3">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4pPr>
            <a:lvl5pPr lvl="4">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5pPr>
            <a:lvl6pPr lvl="5">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6pPr>
            <a:lvl7pPr lvl="6">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7pPr>
            <a:lvl8pPr lvl="7">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8pPr>
            <a:lvl9pPr lvl="8">
              <a:spcBef>
                <a:spcPts val="0"/>
              </a:spcBef>
              <a:spcAft>
                <a:spcPts val="0"/>
              </a:spcAft>
              <a:buClr>
                <a:schemeClr val="dk1"/>
              </a:buClr>
              <a:buSzPts val="3200"/>
              <a:buFont typeface="Playfair Display"/>
              <a:buNone/>
              <a:defRPr b="1" sz="3200">
                <a:solidFill>
                  <a:schemeClr val="dk1"/>
                </a:solidFill>
                <a:latin typeface="Playfair Display"/>
                <a:ea typeface="Playfair Display"/>
                <a:cs typeface="Playfair Display"/>
                <a:sym typeface="Playfair Display"/>
              </a:defRPr>
            </a:lvl9pPr>
          </a:lstStyle>
          <a:p/>
        </p:txBody>
      </p:sp>
      <p:sp>
        <p:nvSpPr>
          <p:cNvPr id="7" name="Google Shape;7;p1"/>
          <p:cNvSpPr txBox="1"/>
          <p:nvPr>
            <p:ph idx="1" type="body"/>
          </p:nvPr>
        </p:nvSpPr>
        <p:spPr>
          <a:xfrm>
            <a:off x="311700" y="1890400"/>
            <a:ext cx="8520600" cy="4201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Lato"/>
              <a:buChar char="●"/>
              <a:defRPr sz="1800">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Lato"/>
                <a:ea typeface="Lato"/>
                <a:cs typeface="Lato"/>
                <a:sym typeface="Lato"/>
              </a:defRPr>
            </a:lvl1pPr>
            <a:lvl2pPr lvl="1" algn="r">
              <a:buNone/>
              <a:defRPr sz="1000">
                <a:solidFill>
                  <a:schemeClr val="dk1"/>
                </a:solidFill>
                <a:latin typeface="Lato"/>
                <a:ea typeface="Lato"/>
                <a:cs typeface="Lato"/>
                <a:sym typeface="Lato"/>
              </a:defRPr>
            </a:lvl2pPr>
            <a:lvl3pPr lvl="2" algn="r">
              <a:buNone/>
              <a:defRPr sz="1000">
                <a:solidFill>
                  <a:schemeClr val="dk1"/>
                </a:solidFill>
                <a:latin typeface="Lato"/>
                <a:ea typeface="Lato"/>
                <a:cs typeface="Lato"/>
                <a:sym typeface="Lato"/>
              </a:defRPr>
            </a:lvl3pPr>
            <a:lvl4pPr lvl="3" algn="r">
              <a:buNone/>
              <a:defRPr sz="1000">
                <a:solidFill>
                  <a:schemeClr val="dk1"/>
                </a:solidFill>
                <a:latin typeface="Lato"/>
                <a:ea typeface="Lato"/>
                <a:cs typeface="Lato"/>
                <a:sym typeface="Lato"/>
              </a:defRPr>
            </a:lvl4pPr>
            <a:lvl5pPr lvl="4" algn="r">
              <a:buNone/>
              <a:defRPr sz="1000">
                <a:solidFill>
                  <a:schemeClr val="dk1"/>
                </a:solidFill>
                <a:latin typeface="Lato"/>
                <a:ea typeface="Lato"/>
                <a:cs typeface="Lato"/>
                <a:sym typeface="Lato"/>
              </a:defRPr>
            </a:lvl5pPr>
            <a:lvl6pPr lvl="5" algn="r">
              <a:buNone/>
              <a:defRPr sz="1000">
                <a:solidFill>
                  <a:schemeClr val="dk1"/>
                </a:solidFill>
                <a:latin typeface="Lato"/>
                <a:ea typeface="Lato"/>
                <a:cs typeface="Lato"/>
                <a:sym typeface="Lato"/>
              </a:defRPr>
            </a:lvl6pPr>
            <a:lvl7pPr lvl="6" algn="r">
              <a:buNone/>
              <a:defRPr sz="1000">
                <a:solidFill>
                  <a:schemeClr val="dk1"/>
                </a:solidFill>
                <a:latin typeface="Lato"/>
                <a:ea typeface="Lato"/>
                <a:cs typeface="Lato"/>
                <a:sym typeface="Lato"/>
              </a:defRPr>
            </a:lvl7pPr>
            <a:lvl8pPr lvl="7" algn="r">
              <a:buNone/>
              <a:defRPr sz="1000">
                <a:solidFill>
                  <a:schemeClr val="dk1"/>
                </a:solidFill>
                <a:latin typeface="Lato"/>
                <a:ea typeface="Lato"/>
                <a:cs typeface="Lato"/>
                <a:sym typeface="Lato"/>
              </a:defRPr>
            </a:lvl8pPr>
            <a:lvl9pPr lvl="8" algn="r">
              <a:buNone/>
              <a:defRPr sz="1000">
                <a:solidFill>
                  <a:schemeClr val="dk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png"/><Relationship Id="rId5"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0" name="Shape 80"/>
        <p:cNvGrpSpPr/>
        <p:nvPr/>
      </p:nvGrpSpPr>
      <p:grpSpPr>
        <a:xfrm>
          <a:off x="0" y="0"/>
          <a:ext cx="0" cy="0"/>
          <a:chOff x="0" y="0"/>
          <a:chExt cx="0" cy="0"/>
        </a:xfrm>
      </p:grpSpPr>
      <p:sp>
        <p:nvSpPr>
          <p:cNvPr id="81" name="Google Shape;81;p15"/>
          <p:cNvSpPr txBox="1"/>
          <p:nvPr>
            <p:ph type="ctrTitle"/>
          </p:nvPr>
        </p:nvSpPr>
        <p:spPr>
          <a:xfrm>
            <a:off x="630600" y="182400"/>
            <a:ext cx="7893000" cy="3246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500">
                <a:solidFill>
                  <a:schemeClr val="dk2"/>
                </a:solidFill>
                <a:latin typeface="Calibri"/>
                <a:ea typeface="Calibri"/>
                <a:cs typeface="Calibri"/>
                <a:sym typeface="Calibri"/>
              </a:rPr>
              <a:t>Business Data Management - Capstone Project</a:t>
            </a:r>
            <a:endParaRPr sz="4900">
              <a:solidFill>
                <a:schemeClr val="dk2"/>
              </a:solidFill>
            </a:endParaRPr>
          </a:p>
        </p:txBody>
      </p:sp>
      <p:sp>
        <p:nvSpPr>
          <p:cNvPr id="82" name="Google Shape;82;p15"/>
          <p:cNvSpPr txBox="1"/>
          <p:nvPr>
            <p:ph idx="1" type="subTitle"/>
          </p:nvPr>
        </p:nvSpPr>
        <p:spPr>
          <a:xfrm>
            <a:off x="630600" y="4013725"/>
            <a:ext cx="7893000" cy="24183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100"/>
              <a:buNone/>
            </a:pPr>
            <a:r>
              <a:t/>
            </a:r>
            <a:endParaRPr b="1" sz="2800">
              <a:solidFill>
                <a:srgbClr val="434343"/>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US" sz="2900">
                <a:solidFill>
                  <a:schemeClr val="dk2"/>
                </a:solidFill>
                <a:latin typeface="Arial"/>
                <a:ea typeface="Arial"/>
                <a:cs typeface="Arial"/>
                <a:sym typeface="Arial"/>
              </a:rPr>
              <a:t>Optimizing Retail Efficiency: A Data-Driven Approach for LAXMI GENERAL STORE</a:t>
            </a:r>
            <a:endParaRPr b="1" sz="2900">
              <a:solidFill>
                <a:schemeClr val="dk2"/>
              </a:solidFill>
              <a:latin typeface="Arial"/>
              <a:ea typeface="Arial"/>
              <a:cs typeface="Arial"/>
              <a:sym typeface="Arial"/>
            </a:endParaRPr>
          </a:p>
          <a:p>
            <a:pPr indent="0" lvl="0" marL="0" rtl="0" algn="ctr">
              <a:spcBef>
                <a:spcPts val="0"/>
              </a:spcBef>
              <a:spcAft>
                <a:spcPts val="0"/>
              </a:spcAft>
              <a:buClr>
                <a:schemeClr val="dk1"/>
              </a:buClr>
              <a:buSzPts val="1100"/>
              <a:buFont typeface="Arial"/>
              <a:buNone/>
            </a:pPr>
            <a:r>
              <a:rPr b="1" lang="en-US" sz="2900">
                <a:solidFill>
                  <a:schemeClr val="dk2"/>
                </a:solidFill>
                <a:latin typeface="Arial"/>
                <a:ea typeface="Arial"/>
                <a:cs typeface="Arial"/>
                <a:sym typeface="Arial"/>
              </a:rPr>
              <a:t>Presented by Pammi Tiwari</a:t>
            </a:r>
            <a:endParaRPr b="1" sz="2900">
              <a:solidFill>
                <a:schemeClr val="dk2"/>
              </a:solidFill>
              <a:latin typeface="Arial"/>
              <a:ea typeface="Arial"/>
              <a:cs typeface="Arial"/>
              <a:sym typeface="Arial"/>
            </a:endParaRPr>
          </a:p>
          <a:p>
            <a:pPr indent="0" lvl="0" marL="0" rtl="0" algn="ctr">
              <a:spcBef>
                <a:spcPts val="640"/>
              </a:spcBef>
              <a:spcAft>
                <a:spcPts val="0"/>
              </a:spcAft>
              <a:buClr>
                <a:srgbClr val="888888"/>
              </a:buClr>
              <a:buSzPts val="3200"/>
              <a:buNone/>
            </a:pPr>
            <a:r>
              <a:t/>
            </a:r>
            <a:endParaRPr/>
          </a:p>
        </p:txBody>
      </p:sp>
      <p:sp>
        <p:nvSpPr>
          <p:cNvPr id="83" name="Google Shape;83;p1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      </a:t>
            </a:r>
            <a:r>
              <a:rPr lang="en-US" sz="4400">
                <a:solidFill>
                  <a:schemeClr val="dk1"/>
                </a:solidFill>
                <a:latin typeface="Calibri"/>
                <a:ea typeface="Calibri"/>
                <a:cs typeface="Calibri"/>
                <a:sym typeface="Calibri"/>
              </a:rPr>
              <a:t>Organization Background</a:t>
            </a:r>
            <a:endParaRPr/>
          </a:p>
        </p:txBody>
      </p:sp>
      <p:sp>
        <p:nvSpPr>
          <p:cNvPr id="89" name="Google Shape;89;p1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lnSpcReduction="20000"/>
          </a:bodyPr>
          <a:lstStyle/>
          <a:p>
            <a:pPr indent="-304800" lvl="0" marL="457200" rtl="0" algn="just">
              <a:spcBef>
                <a:spcPts val="0"/>
              </a:spcBef>
              <a:spcAft>
                <a:spcPts val="0"/>
              </a:spcAft>
              <a:buSzPts val="1200"/>
              <a:buChar char="●"/>
            </a:pPr>
            <a:r>
              <a:rPr lang="en-US" sz="1200"/>
              <a:t>Name of the organisation: Laxmi General Store</a:t>
            </a:r>
            <a:endParaRPr sz="1200"/>
          </a:p>
          <a:p>
            <a:pPr indent="-304800" lvl="0" marL="457200" rtl="0" algn="just">
              <a:spcBef>
                <a:spcPts val="0"/>
              </a:spcBef>
              <a:spcAft>
                <a:spcPts val="0"/>
              </a:spcAft>
              <a:buSzPts val="1200"/>
              <a:buChar char="●"/>
            </a:pPr>
            <a:r>
              <a:rPr lang="en-US" sz="1200"/>
              <a:t>Location:  Preetam Nagar,Prayagraj</a:t>
            </a:r>
            <a:endParaRPr sz="1200"/>
          </a:p>
          <a:p>
            <a:pPr indent="-304800" lvl="0" marL="457200" rtl="0" algn="just">
              <a:spcBef>
                <a:spcPts val="0"/>
              </a:spcBef>
              <a:spcAft>
                <a:spcPts val="0"/>
              </a:spcAft>
              <a:buSzPts val="1200"/>
              <a:buChar char="●"/>
            </a:pPr>
            <a:r>
              <a:rPr lang="en-US" sz="1200"/>
              <a:t>Established : 2021</a:t>
            </a:r>
            <a:endParaRPr sz="1200"/>
          </a:p>
          <a:p>
            <a:pPr indent="-304800" lvl="0" marL="457200" rtl="0" algn="just">
              <a:spcBef>
                <a:spcPts val="0"/>
              </a:spcBef>
              <a:spcAft>
                <a:spcPts val="0"/>
              </a:spcAft>
              <a:buSzPts val="1200"/>
              <a:buChar char="●"/>
            </a:pPr>
            <a:r>
              <a:rPr lang="en-US" sz="1200"/>
              <a:t>Owner:  Shivam Bhartiya</a:t>
            </a:r>
            <a:endParaRPr sz="1200"/>
          </a:p>
          <a:p>
            <a:pPr indent="0" lvl="0" marL="0" rtl="0" algn="just">
              <a:spcBef>
                <a:spcPts val="1200"/>
              </a:spcBef>
              <a:spcAft>
                <a:spcPts val="0"/>
              </a:spcAft>
              <a:buNone/>
            </a:pPr>
            <a:r>
              <a:rPr lang="en-US" sz="1100"/>
              <a:t>Brief Background : Laxmi General Store is a neighborhood grocery store located in Preetam Nagar, Prayagraj. Established in 2021 by Shivam Bhartiya, the store has become a trusted source for everyday household needs. It operates within the B2C sector, directly serving the local community with a wide variety of products. The store's inventory includes groceries, fresh produce, packaged foods, household essentials, and personal care items. Laxmi General Store prides itself on offering high-quality products at affordable prices, ensuring that customers receive value for their money. The store is well-known for its friendly customer service and its commitment to meeting the needs of the residents in the area. Despite its success, the store faces challenges with inventory management, which affects its profitability and customer satisfaction. By addressing these issues, Laxmi General Store aims to improve its operations and continue to serve the community effectively.</a:t>
            </a:r>
            <a:endParaRPr sz="1100"/>
          </a:p>
          <a:p>
            <a:pPr indent="0" lvl="0" marL="0" rtl="0" algn="just">
              <a:spcBef>
                <a:spcPts val="1200"/>
              </a:spcBef>
              <a:spcAft>
                <a:spcPts val="0"/>
              </a:spcAft>
              <a:buNone/>
            </a:pPr>
            <a:r>
              <a:t/>
            </a:r>
            <a:endParaRPr sz="1000"/>
          </a:p>
          <a:p>
            <a:pPr indent="0" lvl="0" marL="0" rtl="0" algn="just">
              <a:spcBef>
                <a:spcPts val="1200"/>
              </a:spcBef>
              <a:spcAft>
                <a:spcPts val="1200"/>
              </a:spcAft>
              <a:buNone/>
            </a:pPr>
            <a:r>
              <a:t/>
            </a:r>
            <a:endParaRPr sz="1000"/>
          </a:p>
        </p:txBody>
      </p:sp>
      <p:sp>
        <p:nvSpPr>
          <p:cNvPr id="90" name="Google Shape;90;p16"/>
          <p:cNvSpPr txBox="1"/>
          <p:nvPr>
            <p:ph idx="2" type="body"/>
          </p:nvPr>
        </p:nvSpPr>
        <p:spPr>
          <a:xfrm>
            <a:off x="4648200" y="1600200"/>
            <a:ext cx="4038600" cy="4526100"/>
          </a:xfrm>
          <a:prstGeom prst="rect">
            <a:avLst/>
          </a:prstGeom>
        </p:spPr>
        <p:txBody>
          <a:bodyPr anchorCtr="0" anchor="t" bIns="45700" lIns="91425" spcFirstLastPara="1" rIns="91425" wrap="square" tIns="45700">
            <a:normAutofit/>
          </a:bodyPr>
          <a:lstStyle/>
          <a:p>
            <a:pPr indent="0" lvl="0" marL="0" rtl="0" algn="l">
              <a:spcBef>
                <a:spcPts val="560"/>
              </a:spcBef>
              <a:spcAft>
                <a:spcPts val="1200"/>
              </a:spcAft>
              <a:buNone/>
            </a:pPr>
            <a:r>
              <a:t/>
            </a:r>
            <a:endParaRPr/>
          </a:p>
        </p:txBody>
      </p:sp>
      <p:pic>
        <p:nvPicPr>
          <p:cNvPr id="91" name="Google Shape;91;p16"/>
          <p:cNvPicPr preferRelativeResize="0"/>
          <p:nvPr/>
        </p:nvPicPr>
        <p:blipFill>
          <a:blip r:embed="rId3">
            <a:alphaModFix/>
          </a:blip>
          <a:stretch>
            <a:fillRect/>
          </a:stretch>
        </p:blipFill>
        <p:spPr>
          <a:xfrm>
            <a:off x="4648200" y="1559925"/>
            <a:ext cx="4115251" cy="4526100"/>
          </a:xfrm>
          <a:prstGeom prst="rect">
            <a:avLst/>
          </a:prstGeom>
          <a:noFill/>
          <a:ln>
            <a:noFill/>
          </a:ln>
        </p:spPr>
      </p:pic>
      <p:sp>
        <p:nvSpPr>
          <p:cNvPr id="92" name="Google Shape;92;p16"/>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7"/>
          <p:cNvSpPr txBox="1"/>
          <p:nvPr>
            <p:ph type="title"/>
          </p:nvPr>
        </p:nvSpPr>
        <p:spPr>
          <a:xfrm>
            <a:off x="311700" y="455075"/>
            <a:ext cx="8136000" cy="10053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300">
                <a:solidFill>
                  <a:schemeClr val="dk1"/>
                </a:solidFill>
              </a:rPr>
              <a:t>Data Collection</a:t>
            </a:r>
            <a:endParaRPr sz="2300"/>
          </a:p>
        </p:txBody>
      </p:sp>
      <p:sp>
        <p:nvSpPr>
          <p:cNvPr id="98" name="Google Shape;98;p17"/>
          <p:cNvSpPr txBox="1"/>
          <p:nvPr>
            <p:ph idx="1" type="body"/>
          </p:nvPr>
        </p:nvSpPr>
        <p:spPr>
          <a:xfrm>
            <a:off x="234950" y="1789150"/>
            <a:ext cx="3873600" cy="4334700"/>
          </a:xfrm>
          <a:prstGeom prst="rect">
            <a:avLst/>
          </a:prstGeom>
          <a:noFill/>
          <a:ln>
            <a:noFill/>
          </a:ln>
        </p:spPr>
        <p:txBody>
          <a:bodyPr anchorCtr="0" anchor="t" bIns="45700" lIns="91425" spcFirstLastPara="1" rIns="91425" wrap="square" tIns="45700">
            <a:normAutofit/>
          </a:bodyPr>
          <a:lstStyle/>
          <a:p>
            <a:pPr indent="0" lvl="0" marL="342900" rtl="0" algn="l">
              <a:spcBef>
                <a:spcPts val="0"/>
              </a:spcBef>
              <a:spcAft>
                <a:spcPts val="0"/>
              </a:spcAft>
              <a:buClr>
                <a:schemeClr val="dk1"/>
              </a:buClr>
              <a:buSzPts val="3200"/>
              <a:buNone/>
            </a:pPr>
            <a:r>
              <a:rPr lang="en-US" sz="1300">
                <a:latin typeface="Playfair Display"/>
                <a:ea typeface="Playfair Display"/>
                <a:cs typeface="Playfair Display"/>
                <a:sym typeface="Playfair Display"/>
              </a:rPr>
              <a:t>Introduced the project objectives and</a:t>
            </a:r>
            <a:r>
              <a:rPr lang="en-US" sz="1300">
                <a:latin typeface="Playfair Display"/>
                <a:ea typeface="Playfair Display"/>
                <a:cs typeface="Playfair Display"/>
                <a:sym typeface="Playfair Display"/>
              </a:rPr>
              <a:t> </a:t>
            </a:r>
            <a:r>
              <a:rPr lang="en-US" sz="1300">
                <a:latin typeface="Playfair Display"/>
                <a:ea typeface="Playfair Display"/>
                <a:cs typeface="Playfair Display"/>
                <a:sym typeface="Playfair Display"/>
              </a:rPr>
              <a:t>approach to the business owner. Explained the significance of analysing stock data for informed decision-making.</a:t>
            </a:r>
            <a:endParaRPr sz="1300">
              <a:latin typeface="Playfair Display"/>
              <a:ea typeface="Playfair Display"/>
              <a:cs typeface="Playfair Display"/>
              <a:sym typeface="Playfair Display"/>
            </a:endParaRPr>
          </a:p>
          <a:p>
            <a:pPr indent="-139700" lvl="0" marL="342900" rtl="0" algn="l">
              <a:spcBef>
                <a:spcPts val="1200"/>
              </a:spcBef>
              <a:spcAft>
                <a:spcPts val="0"/>
              </a:spcAft>
              <a:buClr>
                <a:schemeClr val="dk1"/>
              </a:buClr>
              <a:buSzPts val="3200"/>
              <a:buNone/>
            </a:pPr>
            <a:r>
              <a:rPr lang="en-US" sz="1300">
                <a:latin typeface="Playfair Display"/>
                <a:ea typeface="Playfair Display"/>
                <a:cs typeface="Playfair Display"/>
                <a:sym typeface="Playfair Display"/>
              </a:rPr>
              <a:t> • Obtained explicit permission from the business owner to access and analyse relevant data. </a:t>
            </a:r>
            <a:endParaRPr sz="1300">
              <a:latin typeface="Playfair Display"/>
              <a:ea typeface="Playfair Display"/>
              <a:cs typeface="Playfair Display"/>
              <a:sym typeface="Playfair Display"/>
            </a:endParaRPr>
          </a:p>
          <a:p>
            <a:pPr indent="-139700" lvl="0" marL="342900" rtl="0" algn="l">
              <a:spcBef>
                <a:spcPts val="1200"/>
              </a:spcBef>
              <a:spcAft>
                <a:spcPts val="0"/>
              </a:spcAft>
              <a:buClr>
                <a:schemeClr val="dk1"/>
              </a:buClr>
              <a:buSzPts val="3200"/>
              <a:buNone/>
            </a:pPr>
            <a:r>
              <a:rPr lang="en-US" sz="1300">
                <a:latin typeface="Playfair Display"/>
                <a:ea typeface="Playfair Display"/>
                <a:cs typeface="Playfair Display"/>
                <a:sym typeface="Playfair Display"/>
              </a:rPr>
              <a:t>• Sales and Purchase records from March 2024 to April 2024. </a:t>
            </a:r>
            <a:endParaRPr sz="1300">
              <a:latin typeface="Playfair Display"/>
              <a:ea typeface="Playfair Display"/>
              <a:cs typeface="Playfair Display"/>
              <a:sym typeface="Playfair Display"/>
            </a:endParaRPr>
          </a:p>
          <a:p>
            <a:pPr indent="-139700" lvl="0" marL="342900" rtl="0" algn="l">
              <a:spcBef>
                <a:spcPts val="1200"/>
              </a:spcBef>
              <a:spcAft>
                <a:spcPts val="0"/>
              </a:spcAft>
              <a:buClr>
                <a:schemeClr val="dk1"/>
              </a:buClr>
              <a:buSzPts val="3200"/>
              <a:buNone/>
            </a:pPr>
            <a:r>
              <a:rPr lang="en-US" sz="1300">
                <a:latin typeface="Playfair Display"/>
                <a:ea typeface="Playfair Display"/>
                <a:cs typeface="Playfair Display"/>
                <a:sym typeface="Playfair Display"/>
              </a:rPr>
              <a:t>• Leveraged bills for the past 3 months to construct a foundational dataset.</a:t>
            </a:r>
            <a:endParaRPr sz="1300">
              <a:latin typeface="Playfair Display"/>
              <a:ea typeface="Playfair Display"/>
              <a:cs typeface="Playfair Display"/>
              <a:sym typeface="Playfair Display"/>
            </a:endParaRPr>
          </a:p>
          <a:p>
            <a:pPr indent="-139700" lvl="0" marL="342900" rtl="0" algn="l">
              <a:spcBef>
                <a:spcPts val="1200"/>
              </a:spcBef>
              <a:spcAft>
                <a:spcPts val="1200"/>
              </a:spcAft>
              <a:buClr>
                <a:schemeClr val="dk1"/>
              </a:buClr>
              <a:buSzPts val="3200"/>
              <a:buNone/>
            </a:pPr>
            <a:r>
              <a:rPr lang="en-US" sz="1300">
                <a:latin typeface="Playfair Display"/>
                <a:ea typeface="Playfair Display"/>
                <a:cs typeface="Playfair Display"/>
                <a:sym typeface="Playfair Display"/>
              </a:rPr>
              <a:t> • Implemented measures to protect the confidentiality and security of the collected data. Assured the business owner that data privacy and security were top priorities.</a:t>
            </a:r>
            <a:endParaRPr sz="3300">
              <a:solidFill>
                <a:schemeClr val="dk1"/>
              </a:solidFill>
              <a:latin typeface="Playfair Display"/>
              <a:ea typeface="Playfair Display"/>
              <a:cs typeface="Playfair Display"/>
              <a:sym typeface="Playfair Display"/>
            </a:endParaRPr>
          </a:p>
        </p:txBody>
      </p:sp>
      <p:pic>
        <p:nvPicPr>
          <p:cNvPr id="99" name="Google Shape;99;p17"/>
          <p:cNvPicPr preferRelativeResize="0"/>
          <p:nvPr/>
        </p:nvPicPr>
        <p:blipFill>
          <a:blip r:embed="rId3">
            <a:alphaModFix/>
          </a:blip>
          <a:stretch>
            <a:fillRect/>
          </a:stretch>
        </p:blipFill>
        <p:spPr>
          <a:xfrm>
            <a:off x="4271525" y="2163225"/>
            <a:ext cx="4398349" cy="3440026"/>
          </a:xfrm>
          <a:prstGeom prst="rect">
            <a:avLst/>
          </a:prstGeom>
          <a:noFill/>
          <a:ln>
            <a:noFill/>
          </a:ln>
          <a:effectLst>
            <a:outerShdw blurRad="57150" rotWithShape="0" algn="bl" dir="5400000" dist="19050">
              <a:srgbClr val="000000">
                <a:alpha val="50000"/>
              </a:srgbClr>
            </a:outerShdw>
          </a:effectLst>
        </p:spPr>
      </p:pic>
      <p:sp>
        <p:nvSpPr>
          <p:cNvPr id="100" name="Google Shape;100;p1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Metadata</a:t>
            </a:r>
            <a:endParaRPr/>
          </a:p>
        </p:txBody>
      </p:sp>
      <p:sp>
        <p:nvSpPr>
          <p:cNvPr id="106" name="Google Shape;106;p18"/>
          <p:cNvSpPr txBox="1"/>
          <p:nvPr>
            <p:ph idx="1" type="body"/>
          </p:nvPr>
        </p:nvSpPr>
        <p:spPr>
          <a:xfrm>
            <a:off x="4973875" y="1417650"/>
            <a:ext cx="3712800" cy="4226100"/>
          </a:xfrm>
          <a:prstGeom prst="rect">
            <a:avLst/>
          </a:prstGeom>
          <a:noFill/>
          <a:ln>
            <a:noFill/>
          </a:ln>
        </p:spPr>
        <p:txBody>
          <a:bodyPr anchorCtr="0" anchor="t" bIns="45700" lIns="91425" spcFirstLastPara="1" rIns="91425" wrap="square" tIns="45700">
            <a:normAutofit fontScale="77500"/>
          </a:bodyPr>
          <a:lstStyle/>
          <a:p>
            <a:pPr indent="-305115" lvl="0" marL="457200" rtl="0" algn="l">
              <a:spcBef>
                <a:spcPts val="0"/>
              </a:spcBef>
              <a:spcAft>
                <a:spcPts val="0"/>
              </a:spcAft>
              <a:buSzPct val="100000"/>
              <a:buAutoNum type="arabicPeriod"/>
            </a:pPr>
            <a:r>
              <a:rPr b="1" lang="en-US" sz="1554">
                <a:latin typeface="Arial"/>
                <a:ea typeface="Arial"/>
                <a:cs typeface="Arial"/>
                <a:sym typeface="Arial"/>
              </a:rPr>
              <a:t>Date (Data Type: Date/Datetime)</a:t>
            </a:r>
            <a:br>
              <a:rPr b="1" lang="en-US" sz="1554">
                <a:latin typeface="Arial"/>
                <a:ea typeface="Arial"/>
                <a:cs typeface="Arial"/>
                <a:sym typeface="Arial"/>
              </a:rPr>
            </a:br>
            <a:r>
              <a:rPr lang="en-US" sz="1554">
                <a:latin typeface="Arial"/>
                <a:ea typeface="Arial"/>
                <a:cs typeface="Arial"/>
                <a:sym typeface="Arial"/>
              </a:rPr>
              <a:t>Represents the date when the transaction occurred. It is formatted as </a:t>
            </a:r>
            <a:r>
              <a:rPr lang="en-US" sz="1554">
                <a:latin typeface="Roboto Mono"/>
                <a:ea typeface="Roboto Mono"/>
                <a:cs typeface="Roboto Mono"/>
                <a:sym typeface="Roboto Mono"/>
              </a:rPr>
              <a:t>YYYY-MM-DD</a:t>
            </a:r>
            <a:r>
              <a:rPr lang="en-US" sz="1554">
                <a:latin typeface="Arial"/>
                <a:ea typeface="Arial"/>
                <a:cs typeface="Arial"/>
                <a:sym typeface="Arial"/>
              </a:rPr>
              <a:t>.</a:t>
            </a:r>
            <a:endParaRPr sz="1554">
              <a:latin typeface="Arial"/>
              <a:ea typeface="Arial"/>
              <a:cs typeface="Arial"/>
              <a:sym typeface="Arial"/>
            </a:endParaRPr>
          </a:p>
          <a:p>
            <a:pPr indent="-305115" lvl="0" marL="457200" rtl="0" algn="l">
              <a:spcBef>
                <a:spcPts val="0"/>
              </a:spcBef>
              <a:spcAft>
                <a:spcPts val="0"/>
              </a:spcAft>
              <a:buSzPct val="100000"/>
              <a:buFont typeface="Arial"/>
              <a:buAutoNum type="arabicPeriod"/>
            </a:pPr>
            <a:r>
              <a:rPr b="1" lang="en-US" sz="1554">
                <a:latin typeface="Arial"/>
                <a:ea typeface="Arial"/>
                <a:cs typeface="Arial"/>
                <a:sym typeface="Arial"/>
              </a:rPr>
              <a:t>Item Name (Data Type: Text/String)</a:t>
            </a:r>
            <a:br>
              <a:rPr b="1" lang="en-US" sz="1554">
                <a:latin typeface="Arial"/>
                <a:ea typeface="Arial"/>
                <a:cs typeface="Arial"/>
                <a:sym typeface="Arial"/>
              </a:rPr>
            </a:br>
            <a:r>
              <a:rPr lang="en-US" sz="1554">
                <a:latin typeface="Arial"/>
                <a:ea typeface="Arial"/>
                <a:cs typeface="Arial"/>
                <a:sym typeface="Arial"/>
              </a:rPr>
              <a:t>The name or description of the product/item involved in the transaction. It contains alphanumeric characters and spaces.</a:t>
            </a:r>
            <a:endParaRPr sz="1554">
              <a:latin typeface="Arial"/>
              <a:ea typeface="Arial"/>
              <a:cs typeface="Arial"/>
              <a:sym typeface="Arial"/>
            </a:endParaRPr>
          </a:p>
          <a:p>
            <a:pPr indent="-305115" lvl="0" marL="457200" rtl="0" algn="l">
              <a:spcBef>
                <a:spcPts val="0"/>
              </a:spcBef>
              <a:spcAft>
                <a:spcPts val="0"/>
              </a:spcAft>
              <a:buSzPct val="100000"/>
              <a:buFont typeface="Arial"/>
              <a:buAutoNum type="arabicPeriod"/>
            </a:pPr>
            <a:r>
              <a:rPr b="1" lang="en-US" sz="1554">
                <a:latin typeface="Arial"/>
                <a:ea typeface="Arial"/>
                <a:cs typeface="Arial"/>
                <a:sym typeface="Arial"/>
              </a:rPr>
              <a:t>Quantity (Data Type: Integer)</a:t>
            </a:r>
            <a:br>
              <a:rPr b="1" lang="en-US" sz="1554">
                <a:latin typeface="Arial"/>
                <a:ea typeface="Arial"/>
                <a:cs typeface="Arial"/>
                <a:sym typeface="Arial"/>
              </a:rPr>
            </a:br>
            <a:r>
              <a:rPr lang="en-US" sz="1554">
                <a:latin typeface="Arial"/>
                <a:ea typeface="Arial"/>
                <a:cs typeface="Arial"/>
                <a:sym typeface="Arial"/>
              </a:rPr>
              <a:t>The quantity of the item sold or recorded in the transaction. It is a whole number.</a:t>
            </a:r>
            <a:endParaRPr sz="1554">
              <a:latin typeface="Arial"/>
              <a:ea typeface="Arial"/>
              <a:cs typeface="Arial"/>
              <a:sym typeface="Arial"/>
            </a:endParaRPr>
          </a:p>
          <a:p>
            <a:pPr indent="-305115" lvl="0" marL="457200" rtl="0" algn="l">
              <a:spcBef>
                <a:spcPts val="0"/>
              </a:spcBef>
              <a:spcAft>
                <a:spcPts val="0"/>
              </a:spcAft>
              <a:buSzPct val="100000"/>
              <a:buFont typeface="Arial"/>
              <a:buAutoNum type="arabicPeriod"/>
            </a:pPr>
            <a:r>
              <a:rPr b="1" lang="en-US" sz="1554">
                <a:latin typeface="Arial"/>
                <a:ea typeface="Arial"/>
                <a:cs typeface="Arial"/>
                <a:sym typeface="Arial"/>
              </a:rPr>
              <a:t>Unit Price (Data Type: Float/Decimal)</a:t>
            </a:r>
            <a:br>
              <a:rPr b="1" lang="en-US" sz="1554">
                <a:latin typeface="Arial"/>
                <a:ea typeface="Arial"/>
                <a:cs typeface="Arial"/>
                <a:sym typeface="Arial"/>
              </a:rPr>
            </a:br>
            <a:r>
              <a:rPr lang="en-US" sz="1554">
                <a:latin typeface="Arial"/>
                <a:ea typeface="Arial"/>
                <a:cs typeface="Arial"/>
                <a:sym typeface="Arial"/>
              </a:rPr>
              <a:t>The price per unit of the item, represented as a decimal number.</a:t>
            </a:r>
            <a:endParaRPr sz="1554">
              <a:latin typeface="Arial"/>
              <a:ea typeface="Arial"/>
              <a:cs typeface="Arial"/>
              <a:sym typeface="Arial"/>
            </a:endParaRPr>
          </a:p>
          <a:p>
            <a:pPr indent="-305115" lvl="0" marL="457200" rtl="0" algn="l">
              <a:spcBef>
                <a:spcPts val="0"/>
              </a:spcBef>
              <a:spcAft>
                <a:spcPts val="0"/>
              </a:spcAft>
              <a:buSzPct val="100000"/>
              <a:buAutoNum type="arabicPeriod"/>
            </a:pPr>
            <a:r>
              <a:rPr b="1" lang="en-US" sz="1554">
                <a:latin typeface="Arial"/>
                <a:ea typeface="Arial"/>
                <a:cs typeface="Arial"/>
                <a:sym typeface="Arial"/>
              </a:rPr>
              <a:t>Amount (Data Type: Float/Decimal)</a:t>
            </a:r>
            <a:br>
              <a:rPr b="1" lang="en-US" sz="1554">
                <a:latin typeface="Arial"/>
                <a:ea typeface="Arial"/>
                <a:cs typeface="Arial"/>
                <a:sym typeface="Arial"/>
              </a:rPr>
            </a:br>
            <a:r>
              <a:rPr lang="en-US" sz="1554">
                <a:latin typeface="Arial"/>
                <a:ea typeface="Arial"/>
                <a:cs typeface="Arial"/>
                <a:sym typeface="Arial"/>
              </a:rPr>
              <a:t>The total amount for the transaction, calculated as </a:t>
            </a:r>
            <a:r>
              <a:rPr lang="en-US" sz="1554">
                <a:latin typeface="Roboto Mono"/>
                <a:ea typeface="Roboto Mono"/>
                <a:cs typeface="Roboto Mono"/>
                <a:sym typeface="Roboto Mono"/>
              </a:rPr>
              <a:t>Quantity × Unit Price</a:t>
            </a:r>
            <a:r>
              <a:rPr lang="en-US" sz="1554">
                <a:latin typeface="Arial"/>
                <a:ea typeface="Arial"/>
                <a:cs typeface="Arial"/>
                <a:sym typeface="Arial"/>
              </a:rPr>
              <a:t>, represented as a decimal number.</a:t>
            </a:r>
            <a:endParaRPr sz="1554">
              <a:latin typeface="Arial"/>
              <a:ea typeface="Arial"/>
              <a:cs typeface="Arial"/>
              <a:sym typeface="Arial"/>
            </a:endParaRPr>
          </a:p>
          <a:p>
            <a:pPr indent="-139700" lvl="0" marL="342900" rtl="0" algn="l">
              <a:spcBef>
                <a:spcPts val="1200"/>
              </a:spcBef>
              <a:spcAft>
                <a:spcPts val="1200"/>
              </a:spcAft>
              <a:buClr>
                <a:schemeClr val="dk1"/>
              </a:buClr>
              <a:buSzPct val="100000"/>
              <a:buNone/>
            </a:pPr>
            <a:r>
              <a:t/>
            </a:r>
            <a:endParaRPr sz="3200">
              <a:latin typeface="Calibri"/>
              <a:ea typeface="Calibri"/>
              <a:cs typeface="Calibri"/>
              <a:sym typeface="Calibri"/>
            </a:endParaRPr>
          </a:p>
        </p:txBody>
      </p:sp>
      <p:pic>
        <p:nvPicPr>
          <p:cNvPr id="107" name="Google Shape;107;p18"/>
          <p:cNvPicPr preferRelativeResize="0"/>
          <p:nvPr/>
        </p:nvPicPr>
        <p:blipFill>
          <a:blip r:embed="rId3">
            <a:alphaModFix/>
          </a:blip>
          <a:stretch>
            <a:fillRect/>
          </a:stretch>
        </p:blipFill>
        <p:spPr>
          <a:xfrm>
            <a:off x="143750" y="1417650"/>
            <a:ext cx="4595276" cy="4225976"/>
          </a:xfrm>
          <a:prstGeom prst="rect">
            <a:avLst/>
          </a:prstGeom>
          <a:noFill/>
          <a:ln>
            <a:noFill/>
          </a:ln>
        </p:spPr>
      </p:pic>
      <p:sp>
        <p:nvSpPr>
          <p:cNvPr id="108" name="Google Shape;108;p18"/>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9"/>
          <p:cNvSpPr txBox="1"/>
          <p:nvPr>
            <p:ph type="title"/>
          </p:nvPr>
        </p:nvSpPr>
        <p:spPr>
          <a:xfrm>
            <a:off x="457200" y="274648"/>
            <a:ext cx="8229600" cy="9198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latin typeface="Calibri"/>
                <a:ea typeface="Calibri"/>
                <a:cs typeface="Calibri"/>
                <a:sym typeface="Calibri"/>
              </a:rPr>
              <a:t>A</a:t>
            </a:r>
            <a:r>
              <a:rPr lang="en-US" sz="4400">
                <a:latin typeface="Calibri"/>
                <a:ea typeface="Calibri"/>
                <a:cs typeface="Calibri"/>
                <a:sym typeface="Calibri"/>
              </a:rPr>
              <a:t>bout the Project</a:t>
            </a:r>
            <a:endParaRPr/>
          </a:p>
        </p:txBody>
      </p:sp>
      <p:sp>
        <p:nvSpPr>
          <p:cNvPr id="114" name="Google Shape;114;p19"/>
          <p:cNvSpPr txBox="1"/>
          <p:nvPr>
            <p:ph idx="1" type="body"/>
          </p:nvPr>
        </p:nvSpPr>
        <p:spPr>
          <a:xfrm>
            <a:off x="457200" y="1417651"/>
            <a:ext cx="8229600" cy="4708500"/>
          </a:xfrm>
          <a:prstGeom prst="rect">
            <a:avLst/>
          </a:prstGeom>
          <a:noFill/>
          <a:ln>
            <a:noFill/>
          </a:ln>
        </p:spPr>
        <p:txBody>
          <a:bodyPr anchorCtr="0" anchor="t" bIns="45700" lIns="91425" spcFirstLastPara="1" rIns="91425" wrap="square" tIns="45700">
            <a:normAutofit fontScale="62500" lnSpcReduction="20000"/>
          </a:bodyPr>
          <a:lstStyle/>
          <a:p>
            <a:pPr indent="0" lvl="0" marL="0" rtl="0" algn="l">
              <a:lnSpc>
                <a:spcPct val="105000"/>
              </a:lnSpc>
              <a:spcBef>
                <a:spcPts val="0"/>
              </a:spcBef>
              <a:spcAft>
                <a:spcPts val="0"/>
              </a:spcAft>
              <a:buClr>
                <a:schemeClr val="dk1"/>
              </a:buClr>
              <a:buSzPct val="153846"/>
              <a:buNone/>
            </a:pPr>
            <a:r>
              <a:rPr b="1" lang="en-US" sz="2080">
                <a:latin typeface="Playfair Display"/>
                <a:ea typeface="Playfair Display"/>
                <a:cs typeface="Playfair Display"/>
                <a:sym typeface="Playfair Display"/>
              </a:rPr>
              <a:t>O</a:t>
            </a:r>
            <a:r>
              <a:rPr b="1" lang="en-US" sz="2080">
                <a:latin typeface="Playfair Display"/>
                <a:ea typeface="Playfair Display"/>
                <a:cs typeface="Playfair Display"/>
                <a:sym typeface="Playfair Display"/>
              </a:rPr>
              <a:t>bjective</a:t>
            </a:r>
            <a:r>
              <a:rPr b="1" lang="en-US" sz="2080">
                <a:latin typeface="Playfair Display"/>
                <a:ea typeface="Playfair Display"/>
                <a:cs typeface="Playfair Display"/>
                <a:sym typeface="Playfair Display"/>
              </a:rPr>
              <a:t> of the project: To identity the problem faced by laxmi general store and help them by giving meaningful suggestions</a:t>
            </a:r>
            <a:endParaRPr b="1" sz="2080">
              <a:latin typeface="Playfair Display"/>
              <a:ea typeface="Playfair Display"/>
              <a:cs typeface="Playfair Display"/>
              <a:sym typeface="Playfair Display"/>
            </a:endParaRPr>
          </a:p>
          <a:p>
            <a:pPr indent="0" lvl="0" marL="0" rtl="0" algn="l">
              <a:lnSpc>
                <a:spcPct val="105000"/>
              </a:lnSpc>
              <a:spcBef>
                <a:spcPts val="1200"/>
              </a:spcBef>
              <a:spcAft>
                <a:spcPts val="0"/>
              </a:spcAft>
              <a:buClr>
                <a:schemeClr val="dk1"/>
              </a:buClr>
              <a:buSzPct val="177777"/>
              <a:buNone/>
            </a:pPr>
            <a:r>
              <a:t/>
            </a:r>
            <a:endParaRPr u="sng">
              <a:latin typeface="Playfair Display"/>
              <a:ea typeface="Playfair Display"/>
              <a:cs typeface="Playfair Display"/>
              <a:sym typeface="Playfair Display"/>
            </a:endParaRPr>
          </a:p>
          <a:p>
            <a:pPr indent="-139700" lvl="0" marL="342900" rtl="0" algn="l">
              <a:lnSpc>
                <a:spcPct val="105000"/>
              </a:lnSpc>
              <a:spcBef>
                <a:spcPts val="1200"/>
              </a:spcBef>
              <a:spcAft>
                <a:spcPts val="0"/>
              </a:spcAft>
              <a:buClr>
                <a:schemeClr val="dk1"/>
              </a:buClr>
              <a:buSzPct val="138016"/>
              <a:buFont typeface="Arial"/>
              <a:buNone/>
            </a:pPr>
            <a:r>
              <a:rPr lang="en-US" sz="2318" u="sng">
                <a:latin typeface="Playfair Display"/>
                <a:ea typeface="Playfair Display"/>
                <a:cs typeface="Playfair Display"/>
                <a:sym typeface="Playfair Display"/>
              </a:rPr>
              <a:t>Business Problems:</a:t>
            </a:r>
            <a:endParaRPr sz="2318" u="sng">
              <a:latin typeface="Playfair Display"/>
              <a:ea typeface="Playfair Display"/>
              <a:cs typeface="Playfair Display"/>
              <a:sym typeface="Playfair Display"/>
            </a:endParaRPr>
          </a:p>
          <a:p>
            <a:pPr indent="0" lvl="0" marL="0" rtl="0" algn="l">
              <a:spcBef>
                <a:spcPts val="1200"/>
              </a:spcBef>
              <a:spcAft>
                <a:spcPts val="0"/>
              </a:spcAft>
              <a:buNone/>
            </a:pPr>
            <a:r>
              <a:rPr b="1" lang="en-US" sz="2081">
                <a:latin typeface="Playfair Display"/>
                <a:ea typeface="Playfair Display"/>
                <a:cs typeface="Playfair Display"/>
                <a:sym typeface="Playfair Display"/>
              </a:rPr>
              <a:t>1. Problem: Unclear Spending Patterns</a:t>
            </a:r>
            <a:endParaRPr b="1" sz="2081">
              <a:latin typeface="Playfair Display"/>
              <a:ea typeface="Playfair Display"/>
              <a:cs typeface="Playfair Display"/>
              <a:sym typeface="Playfair Display"/>
            </a:endParaRPr>
          </a:p>
          <a:p>
            <a:pPr indent="-311206" lvl="0" marL="457200" rtl="0" algn="l">
              <a:spcBef>
                <a:spcPts val="1200"/>
              </a:spcBef>
              <a:spcAft>
                <a:spcPts val="0"/>
              </a:spcAft>
              <a:buClr>
                <a:schemeClr val="dk1"/>
              </a:buClr>
              <a:buSzPct val="100000"/>
              <a:buFont typeface="Playfair Display"/>
              <a:buChar char="●"/>
            </a:pPr>
            <a:r>
              <a:rPr lang="en-US" sz="2081">
                <a:latin typeface="Playfair Display"/>
                <a:ea typeface="Playfair Display"/>
                <a:cs typeface="Playfair Display"/>
                <a:sym typeface="Playfair Display"/>
              </a:rPr>
              <a:t>Difficulty in identifying customer spending trends and behaviors, leading to inefficiencies in inventory management, marketing strategies, and overall resource allocation.</a:t>
            </a:r>
            <a:endParaRPr sz="2081">
              <a:latin typeface="Playfair Display"/>
              <a:ea typeface="Playfair Display"/>
              <a:cs typeface="Playfair Display"/>
              <a:sym typeface="Playfair Display"/>
            </a:endParaRPr>
          </a:p>
          <a:p>
            <a:pPr indent="0" lvl="0" marL="0" rtl="0" algn="l">
              <a:spcBef>
                <a:spcPts val="1200"/>
              </a:spcBef>
              <a:spcAft>
                <a:spcPts val="0"/>
              </a:spcAft>
              <a:buNone/>
            </a:pPr>
            <a:r>
              <a:rPr b="1" lang="en-US" sz="2081">
                <a:latin typeface="Playfair Display"/>
                <a:ea typeface="Playfair Display"/>
                <a:cs typeface="Playfair Display"/>
                <a:sym typeface="Playfair Display"/>
              </a:rPr>
              <a:t>2. Problem: Frequent Stockouts of Popular Items</a:t>
            </a:r>
            <a:endParaRPr b="1" sz="2081">
              <a:latin typeface="Playfair Display"/>
              <a:ea typeface="Playfair Display"/>
              <a:cs typeface="Playfair Display"/>
              <a:sym typeface="Playfair Display"/>
            </a:endParaRPr>
          </a:p>
          <a:p>
            <a:pPr indent="-311206" lvl="0" marL="457200" rtl="0" algn="l">
              <a:spcBef>
                <a:spcPts val="1200"/>
              </a:spcBef>
              <a:spcAft>
                <a:spcPts val="0"/>
              </a:spcAft>
              <a:buClr>
                <a:schemeClr val="dk1"/>
              </a:buClr>
              <a:buSzPct val="100000"/>
              <a:buFont typeface="Playfair Display"/>
              <a:buChar char="●"/>
            </a:pPr>
            <a:r>
              <a:rPr lang="en-US" sz="2081">
                <a:latin typeface="Playfair Display"/>
                <a:ea typeface="Playfair Display"/>
                <a:cs typeface="Playfair Display"/>
                <a:sym typeface="Playfair Display"/>
              </a:rPr>
              <a:t>Regular shortages of high-demand products disrupt customer satisfaction, leading to lost sales opportunities and potential damage to brand reputation.</a:t>
            </a:r>
            <a:endParaRPr sz="2081">
              <a:latin typeface="Playfair Display"/>
              <a:ea typeface="Playfair Display"/>
              <a:cs typeface="Playfair Display"/>
              <a:sym typeface="Playfair Display"/>
            </a:endParaRPr>
          </a:p>
          <a:p>
            <a:pPr indent="0" lvl="0" marL="0" rtl="0" algn="l">
              <a:spcBef>
                <a:spcPts val="1200"/>
              </a:spcBef>
              <a:spcAft>
                <a:spcPts val="0"/>
              </a:spcAft>
              <a:buNone/>
            </a:pPr>
            <a:r>
              <a:rPr b="1" lang="en-US" sz="2081">
                <a:latin typeface="Playfair Display"/>
                <a:ea typeface="Playfair Display"/>
                <a:cs typeface="Playfair Display"/>
                <a:sym typeface="Playfair Display"/>
              </a:rPr>
              <a:t>3. Problem: Ineffective Budget Allocation</a:t>
            </a:r>
            <a:endParaRPr b="1" sz="2081">
              <a:latin typeface="Playfair Display"/>
              <a:ea typeface="Playfair Display"/>
              <a:cs typeface="Playfair Display"/>
              <a:sym typeface="Playfair Display"/>
            </a:endParaRPr>
          </a:p>
          <a:p>
            <a:pPr indent="-311206" lvl="0" marL="457200" rtl="0" algn="l">
              <a:spcBef>
                <a:spcPts val="1200"/>
              </a:spcBef>
              <a:spcAft>
                <a:spcPts val="0"/>
              </a:spcAft>
              <a:buClr>
                <a:schemeClr val="dk1"/>
              </a:buClr>
              <a:buSzPct val="100000"/>
              <a:buFont typeface="Playfair Display"/>
              <a:buChar char="●"/>
            </a:pPr>
            <a:r>
              <a:rPr lang="en-US" sz="2081">
                <a:latin typeface="Playfair Display"/>
                <a:ea typeface="Playfair Display"/>
                <a:cs typeface="Playfair Display"/>
                <a:sym typeface="Playfair Display"/>
              </a:rPr>
              <a:t>Misalignment of budget distribution across departments and products, resulting in underfunding critical areas and overspending on low-priority ones, ultimately impacting profitability.</a:t>
            </a:r>
            <a:endParaRPr sz="2081">
              <a:latin typeface="Playfair Display"/>
              <a:ea typeface="Playfair Display"/>
              <a:cs typeface="Playfair Display"/>
              <a:sym typeface="Playfair Display"/>
            </a:endParaRPr>
          </a:p>
          <a:p>
            <a:pPr indent="0" lvl="0" marL="0" rtl="0" algn="l">
              <a:spcBef>
                <a:spcPts val="1200"/>
              </a:spcBef>
              <a:spcAft>
                <a:spcPts val="0"/>
              </a:spcAft>
              <a:buNone/>
            </a:pPr>
            <a:r>
              <a:t/>
            </a:r>
            <a:endParaRPr b="1" sz="1600">
              <a:latin typeface="Playfair Display"/>
              <a:ea typeface="Playfair Display"/>
              <a:cs typeface="Playfair Display"/>
              <a:sym typeface="Playfair Display"/>
            </a:endParaRPr>
          </a:p>
          <a:p>
            <a:pPr indent="0" lvl="0" marL="0" rtl="0" algn="l">
              <a:spcBef>
                <a:spcPts val="1200"/>
              </a:spcBef>
              <a:spcAft>
                <a:spcPts val="0"/>
              </a:spcAft>
              <a:buNone/>
            </a:pPr>
            <a:r>
              <a:t/>
            </a:r>
            <a:endParaRPr b="1" sz="1600">
              <a:latin typeface="Playfair Display"/>
              <a:ea typeface="Playfair Display"/>
              <a:cs typeface="Playfair Display"/>
              <a:sym typeface="Playfair Display"/>
            </a:endParaRPr>
          </a:p>
          <a:p>
            <a:pPr indent="-139700" lvl="0" marL="342900" rtl="0" algn="l">
              <a:lnSpc>
                <a:spcPct val="105000"/>
              </a:lnSpc>
              <a:spcBef>
                <a:spcPts val="1200"/>
              </a:spcBef>
              <a:spcAft>
                <a:spcPts val="1200"/>
              </a:spcAft>
              <a:buClr>
                <a:schemeClr val="dk1"/>
              </a:buClr>
              <a:buSzPct val="100000"/>
              <a:buNone/>
            </a:pPr>
            <a:r>
              <a:t/>
            </a:r>
            <a:endParaRPr sz="3200">
              <a:latin typeface="Calibri"/>
              <a:ea typeface="Calibri"/>
              <a:cs typeface="Calibri"/>
              <a:sym typeface="Calibri"/>
            </a:endParaRPr>
          </a:p>
        </p:txBody>
      </p:sp>
      <p:sp>
        <p:nvSpPr>
          <p:cNvPr id="115" name="Google Shape;115;p19"/>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457200" y="274650"/>
            <a:ext cx="8229600" cy="7899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3300"/>
              <a:t>Analysis</a:t>
            </a:r>
            <a:endParaRPr sz="3300"/>
          </a:p>
        </p:txBody>
      </p:sp>
      <p:sp>
        <p:nvSpPr>
          <p:cNvPr id="121" name="Google Shape;121;p20"/>
          <p:cNvSpPr txBox="1"/>
          <p:nvPr>
            <p:ph idx="1" type="body"/>
          </p:nvPr>
        </p:nvSpPr>
        <p:spPr>
          <a:xfrm>
            <a:off x="457200" y="1505625"/>
            <a:ext cx="8229600" cy="4620600"/>
          </a:xfrm>
          <a:prstGeom prst="rect">
            <a:avLst/>
          </a:prstGeom>
        </p:spPr>
        <p:txBody>
          <a:bodyPr anchorCtr="0" anchor="t" bIns="45700" lIns="91425" spcFirstLastPara="1" rIns="91425" wrap="square" tIns="45700">
            <a:noAutofit/>
          </a:bodyPr>
          <a:lstStyle/>
          <a:p>
            <a:pPr indent="0" lvl="0" marL="0" rtl="0" algn="l">
              <a:lnSpc>
                <a:spcPct val="95000"/>
              </a:lnSpc>
              <a:spcBef>
                <a:spcPts val="1200"/>
              </a:spcBef>
              <a:spcAft>
                <a:spcPts val="0"/>
              </a:spcAft>
              <a:buSzPts val="275"/>
              <a:buNone/>
            </a:pPr>
            <a:r>
              <a:rPr b="1" lang="en-US" sz="1005">
                <a:latin typeface="Arial"/>
                <a:ea typeface="Arial"/>
                <a:cs typeface="Arial"/>
                <a:sym typeface="Arial"/>
              </a:rPr>
              <a:t>Step 1: Data Collection</a:t>
            </a:r>
            <a:endParaRPr b="1" sz="1005">
              <a:latin typeface="Arial"/>
              <a:ea typeface="Arial"/>
              <a:cs typeface="Arial"/>
              <a:sym typeface="Arial"/>
            </a:endParaRPr>
          </a:p>
          <a:p>
            <a:pPr indent="-292440" lvl="0" marL="457200" rtl="0" algn="l">
              <a:lnSpc>
                <a:spcPct val="95000"/>
              </a:lnSpc>
              <a:spcBef>
                <a:spcPts val="1200"/>
              </a:spcBef>
              <a:spcAft>
                <a:spcPts val="0"/>
              </a:spcAft>
              <a:buClr>
                <a:schemeClr val="dk1"/>
              </a:buClr>
              <a:buSzPts val="1005"/>
              <a:buFont typeface="Arial"/>
              <a:buChar char="●"/>
            </a:pPr>
            <a:r>
              <a:rPr b="1" lang="en-US" sz="1005">
                <a:latin typeface="Arial"/>
                <a:ea typeface="Arial"/>
                <a:cs typeface="Arial"/>
                <a:sym typeface="Arial"/>
              </a:rPr>
              <a:t>What we did</a:t>
            </a:r>
            <a:r>
              <a:rPr lang="en-US" sz="1005">
                <a:latin typeface="Arial"/>
                <a:ea typeface="Arial"/>
                <a:cs typeface="Arial"/>
                <a:sym typeface="Arial"/>
              </a:rPr>
              <a:t>:</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Talked to the owner and staff to understand the problems they were facing.</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Collected sales data for three months (1 March 2024 – 30 May 2024) to understand the problem in detail.</a:t>
            </a:r>
            <a:endParaRPr sz="1005">
              <a:latin typeface="Arial"/>
              <a:ea typeface="Arial"/>
              <a:cs typeface="Arial"/>
              <a:sym typeface="Arial"/>
            </a:endParaRPr>
          </a:p>
          <a:p>
            <a:pPr indent="-292440" lvl="0" marL="457200" rtl="0" algn="l">
              <a:lnSpc>
                <a:spcPct val="95000"/>
              </a:lnSpc>
              <a:spcBef>
                <a:spcPts val="0"/>
              </a:spcBef>
              <a:spcAft>
                <a:spcPts val="0"/>
              </a:spcAft>
              <a:buClr>
                <a:schemeClr val="dk1"/>
              </a:buClr>
              <a:buSzPts val="1005"/>
              <a:buFont typeface="Arial"/>
              <a:buChar char="●"/>
            </a:pPr>
            <a:r>
              <a:rPr b="1" lang="en-US" sz="1005">
                <a:latin typeface="Arial"/>
                <a:ea typeface="Arial"/>
                <a:cs typeface="Arial"/>
                <a:sym typeface="Arial"/>
              </a:rPr>
              <a:t>Purpose</a:t>
            </a:r>
            <a:r>
              <a:rPr lang="en-US" sz="1005">
                <a:latin typeface="Arial"/>
                <a:ea typeface="Arial"/>
                <a:cs typeface="Arial"/>
                <a:sym typeface="Arial"/>
              </a:rPr>
              <a:t>: This ensured that we had sufficient context and a reliable dataset to analyze.</a:t>
            </a:r>
            <a:endParaRPr sz="1005">
              <a:latin typeface="Arial"/>
              <a:ea typeface="Arial"/>
              <a:cs typeface="Arial"/>
              <a:sym typeface="Arial"/>
            </a:endParaRPr>
          </a:p>
          <a:p>
            <a:pPr indent="0" lvl="0" marL="0" rtl="0" algn="l">
              <a:lnSpc>
                <a:spcPct val="95000"/>
              </a:lnSpc>
              <a:spcBef>
                <a:spcPts val="1200"/>
              </a:spcBef>
              <a:spcAft>
                <a:spcPts val="0"/>
              </a:spcAft>
              <a:buSzPts val="275"/>
              <a:buNone/>
            </a:pPr>
            <a:r>
              <a:rPr b="1" lang="en-US" sz="1005">
                <a:latin typeface="Arial"/>
                <a:ea typeface="Arial"/>
                <a:cs typeface="Arial"/>
                <a:sym typeface="Arial"/>
              </a:rPr>
              <a:t>Step 2: Data Cleaning</a:t>
            </a:r>
            <a:endParaRPr b="1" sz="1005">
              <a:latin typeface="Arial"/>
              <a:ea typeface="Arial"/>
              <a:cs typeface="Arial"/>
              <a:sym typeface="Arial"/>
            </a:endParaRPr>
          </a:p>
          <a:p>
            <a:pPr indent="-292440" lvl="0" marL="457200" rtl="0" algn="l">
              <a:lnSpc>
                <a:spcPct val="95000"/>
              </a:lnSpc>
              <a:spcBef>
                <a:spcPts val="1200"/>
              </a:spcBef>
              <a:spcAft>
                <a:spcPts val="0"/>
              </a:spcAft>
              <a:buClr>
                <a:schemeClr val="dk1"/>
              </a:buClr>
              <a:buSzPts val="1005"/>
              <a:buFont typeface="Arial"/>
              <a:buChar char="●"/>
            </a:pPr>
            <a:r>
              <a:rPr b="1" lang="en-US" sz="1005">
                <a:latin typeface="Arial"/>
                <a:ea typeface="Arial"/>
                <a:cs typeface="Arial"/>
                <a:sym typeface="Arial"/>
              </a:rPr>
              <a:t>Key Actions Taken</a:t>
            </a:r>
            <a:r>
              <a:rPr lang="en-US" sz="1005">
                <a:latin typeface="Arial"/>
                <a:ea typeface="Arial"/>
                <a:cs typeface="Arial"/>
                <a:sym typeface="Arial"/>
              </a:rPr>
              <a:t>:</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AutoNum type="arabicPeriod"/>
            </a:pPr>
            <a:r>
              <a:rPr b="1" lang="en-US" sz="1005">
                <a:latin typeface="Arial"/>
                <a:ea typeface="Arial"/>
                <a:cs typeface="Arial"/>
                <a:sym typeface="Arial"/>
              </a:rPr>
              <a:t>Standardization</a:t>
            </a:r>
            <a:r>
              <a:rPr lang="en-US" sz="1005">
                <a:latin typeface="Arial"/>
                <a:ea typeface="Arial"/>
                <a:cs typeface="Arial"/>
                <a:sym typeface="Arial"/>
              </a:rPr>
              <a:t>:</a:t>
            </a:r>
            <a:endParaRPr sz="1005">
              <a:latin typeface="Arial"/>
              <a:ea typeface="Arial"/>
              <a:cs typeface="Arial"/>
              <a:sym typeface="Arial"/>
            </a:endParaRPr>
          </a:p>
          <a:p>
            <a:pPr indent="-292440" lvl="2" marL="13716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Renamed columns for consistency and cleaned product names (e.g., stripping whitespace, converting to title case).</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AutoNum type="arabicPeriod"/>
            </a:pPr>
            <a:r>
              <a:rPr b="1" lang="en-US" sz="1005">
                <a:latin typeface="Arial"/>
                <a:ea typeface="Arial"/>
                <a:cs typeface="Arial"/>
                <a:sym typeface="Arial"/>
              </a:rPr>
              <a:t>Handling Missing Values</a:t>
            </a:r>
            <a:r>
              <a:rPr lang="en-US" sz="1005">
                <a:latin typeface="Arial"/>
                <a:ea typeface="Arial"/>
                <a:cs typeface="Arial"/>
                <a:sym typeface="Arial"/>
              </a:rPr>
              <a:t>:</a:t>
            </a:r>
            <a:endParaRPr sz="1005">
              <a:latin typeface="Arial"/>
              <a:ea typeface="Arial"/>
              <a:cs typeface="Arial"/>
              <a:sym typeface="Arial"/>
            </a:endParaRPr>
          </a:p>
          <a:p>
            <a:pPr indent="-292440" lvl="2" marL="13716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Recalculated missing values in key fields (e.g., Quantity and Unit Price) using available data, such as </a:t>
            </a:r>
            <a:r>
              <a:rPr lang="en-US" sz="1005">
                <a:latin typeface="Arial"/>
                <a:ea typeface="Arial"/>
                <a:cs typeface="Arial"/>
                <a:sym typeface="Arial"/>
              </a:rPr>
              <a:t>calculating</a:t>
            </a:r>
            <a:r>
              <a:rPr lang="en-US" sz="1005">
                <a:latin typeface="Arial"/>
                <a:ea typeface="Arial"/>
                <a:cs typeface="Arial"/>
                <a:sym typeface="Arial"/>
              </a:rPr>
              <a:t> "Amount" based on known fields.</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AutoNum type="arabicPeriod"/>
            </a:pPr>
            <a:r>
              <a:rPr b="1" lang="en-US" sz="1005">
                <a:latin typeface="Arial"/>
                <a:ea typeface="Arial"/>
                <a:cs typeface="Arial"/>
                <a:sym typeface="Arial"/>
              </a:rPr>
              <a:t>Data Type Conversion</a:t>
            </a:r>
            <a:r>
              <a:rPr lang="en-US" sz="1005">
                <a:latin typeface="Arial"/>
                <a:ea typeface="Arial"/>
                <a:cs typeface="Arial"/>
                <a:sym typeface="Arial"/>
              </a:rPr>
              <a:t>:</a:t>
            </a:r>
            <a:endParaRPr sz="1005">
              <a:latin typeface="Arial"/>
              <a:ea typeface="Arial"/>
              <a:cs typeface="Arial"/>
              <a:sym typeface="Arial"/>
            </a:endParaRPr>
          </a:p>
          <a:p>
            <a:pPr indent="-292440" lvl="2" marL="13716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Converted Date fields to datetime format for accurate time-based analysis.</a:t>
            </a:r>
            <a:endParaRPr sz="1005">
              <a:latin typeface="Arial"/>
              <a:ea typeface="Arial"/>
              <a:cs typeface="Arial"/>
              <a:sym typeface="Arial"/>
            </a:endParaRPr>
          </a:p>
          <a:p>
            <a:pPr indent="-292440" lvl="2" marL="13716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Ensured numeric fields (e.g., Quantity, Unit Price, and Amount) were correctly formatted.</a:t>
            </a:r>
            <a:endParaRPr sz="1005">
              <a:latin typeface="Arial"/>
              <a:ea typeface="Arial"/>
              <a:cs typeface="Arial"/>
              <a:sym typeface="Arial"/>
            </a:endParaRPr>
          </a:p>
          <a:p>
            <a:pPr indent="-292440" lvl="0" marL="457200" rtl="0" algn="l">
              <a:lnSpc>
                <a:spcPct val="95000"/>
              </a:lnSpc>
              <a:spcBef>
                <a:spcPts val="0"/>
              </a:spcBef>
              <a:spcAft>
                <a:spcPts val="0"/>
              </a:spcAft>
              <a:buClr>
                <a:schemeClr val="dk1"/>
              </a:buClr>
              <a:buSzPts val="1005"/>
              <a:buFont typeface="Arial"/>
              <a:buChar char="●"/>
            </a:pPr>
            <a:r>
              <a:rPr b="1" lang="en-US" sz="1005">
                <a:latin typeface="Arial"/>
                <a:ea typeface="Arial"/>
                <a:cs typeface="Arial"/>
                <a:sym typeface="Arial"/>
              </a:rPr>
              <a:t>Purpose</a:t>
            </a:r>
            <a:r>
              <a:rPr lang="en-US" sz="1005">
                <a:latin typeface="Arial"/>
                <a:ea typeface="Arial"/>
                <a:cs typeface="Arial"/>
                <a:sym typeface="Arial"/>
              </a:rPr>
              <a:t>: These steps ensured a clean and consistent dataset for accurate analysis.</a:t>
            </a:r>
            <a:endParaRPr sz="1005">
              <a:latin typeface="Arial"/>
              <a:ea typeface="Arial"/>
              <a:cs typeface="Arial"/>
              <a:sym typeface="Arial"/>
            </a:endParaRPr>
          </a:p>
          <a:p>
            <a:pPr indent="0" lvl="0" marL="0" rtl="0" algn="l">
              <a:lnSpc>
                <a:spcPct val="95000"/>
              </a:lnSpc>
              <a:spcBef>
                <a:spcPts val="1200"/>
              </a:spcBef>
              <a:spcAft>
                <a:spcPts val="0"/>
              </a:spcAft>
              <a:buSzPts val="275"/>
              <a:buNone/>
            </a:pPr>
            <a:r>
              <a:rPr b="1" lang="en-US" sz="1005">
                <a:latin typeface="Arial"/>
                <a:ea typeface="Arial"/>
                <a:cs typeface="Arial"/>
                <a:sym typeface="Arial"/>
              </a:rPr>
              <a:t>Step 3: Analysis</a:t>
            </a:r>
            <a:endParaRPr b="1" sz="1005">
              <a:latin typeface="Arial"/>
              <a:ea typeface="Arial"/>
              <a:cs typeface="Arial"/>
              <a:sym typeface="Arial"/>
            </a:endParaRPr>
          </a:p>
          <a:p>
            <a:pPr indent="-292440" lvl="0" marL="457200" rtl="0" algn="l">
              <a:lnSpc>
                <a:spcPct val="95000"/>
              </a:lnSpc>
              <a:spcBef>
                <a:spcPts val="1200"/>
              </a:spcBef>
              <a:spcAft>
                <a:spcPts val="0"/>
              </a:spcAft>
              <a:buClr>
                <a:schemeClr val="dk1"/>
              </a:buClr>
              <a:buSzPts val="1005"/>
              <a:buFont typeface="Arial"/>
              <a:buChar char="●"/>
            </a:pPr>
            <a:r>
              <a:rPr lang="en-US" sz="1005">
                <a:latin typeface="Arial"/>
                <a:ea typeface="Arial"/>
                <a:cs typeface="Arial"/>
                <a:sym typeface="Arial"/>
              </a:rPr>
              <a:t>Used Python libraries to:</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Plot graphs and uncover patterns in sales data.</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Identify high-selling and low-performing products.</a:t>
            </a:r>
            <a:endParaRPr sz="1005">
              <a:latin typeface="Arial"/>
              <a:ea typeface="Arial"/>
              <a:cs typeface="Arial"/>
              <a:sym typeface="Arial"/>
            </a:endParaRPr>
          </a:p>
          <a:p>
            <a:pPr indent="-292440" lvl="1" marL="914400" rtl="0" algn="l">
              <a:lnSpc>
                <a:spcPct val="95000"/>
              </a:lnSpc>
              <a:spcBef>
                <a:spcPts val="0"/>
              </a:spcBef>
              <a:spcAft>
                <a:spcPts val="0"/>
              </a:spcAft>
              <a:buClr>
                <a:schemeClr val="dk1"/>
              </a:buClr>
              <a:buSzPts val="1005"/>
              <a:buFont typeface="Arial"/>
              <a:buChar char="○"/>
            </a:pPr>
            <a:r>
              <a:rPr lang="en-US" sz="1005">
                <a:latin typeface="Arial"/>
                <a:ea typeface="Arial"/>
                <a:cs typeface="Arial"/>
                <a:sym typeface="Arial"/>
              </a:rPr>
              <a:t>Calculate </a:t>
            </a:r>
            <a:r>
              <a:rPr b="1" lang="en-US" sz="1005">
                <a:latin typeface="Arial"/>
                <a:ea typeface="Arial"/>
                <a:cs typeface="Arial"/>
                <a:sym typeface="Arial"/>
              </a:rPr>
              <a:t>reorder points</a:t>
            </a:r>
            <a:r>
              <a:rPr lang="en-US" sz="1005">
                <a:latin typeface="Arial"/>
                <a:ea typeface="Arial"/>
                <a:cs typeface="Arial"/>
                <a:sym typeface="Arial"/>
              </a:rPr>
              <a:t> for top-selling products to ensure stock availability.</a:t>
            </a:r>
            <a:endParaRPr sz="1005">
              <a:latin typeface="Arial"/>
              <a:ea typeface="Arial"/>
              <a:cs typeface="Arial"/>
              <a:sym typeface="Arial"/>
            </a:endParaRPr>
          </a:p>
          <a:p>
            <a:pPr indent="0" lvl="0" marL="0" rtl="0" algn="l">
              <a:lnSpc>
                <a:spcPct val="95000"/>
              </a:lnSpc>
              <a:spcBef>
                <a:spcPts val="1200"/>
              </a:spcBef>
              <a:spcAft>
                <a:spcPts val="0"/>
              </a:spcAft>
              <a:buSzPts val="275"/>
              <a:buNone/>
            </a:pPr>
            <a:r>
              <a:rPr b="1" lang="en-US" sz="1005">
                <a:latin typeface="Arial"/>
                <a:ea typeface="Arial"/>
                <a:cs typeface="Arial"/>
                <a:sym typeface="Arial"/>
              </a:rPr>
              <a:t>Tools Used</a:t>
            </a:r>
            <a:r>
              <a:rPr lang="en-US" sz="1005">
                <a:latin typeface="Arial"/>
                <a:ea typeface="Arial"/>
                <a:cs typeface="Arial"/>
                <a:sym typeface="Arial"/>
              </a:rPr>
              <a:t>: Microsoft Excel, Python Libraries (Pandas, NumPy, Matplotlib, Seaborn)</a:t>
            </a:r>
            <a:endParaRPr sz="1005">
              <a:latin typeface="Arial"/>
              <a:ea typeface="Arial"/>
              <a:cs typeface="Arial"/>
              <a:sym typeface="Arial"/>
            </a:endParaRPr>
          </a:p>
          <a:p>
            <a:pPr indent="0" lvl="0" marL="0" rtl="0" algn="l">
              <a:lnSpc>
                <a:spcPct val="95000"/>
              </a:lnSpc>
              <a:spcBef>
                <a:spcPts val="1200"/>
              </a:spcBef>
              <a:spcAft>
                <a:spcPts val="0"/>
              </a:spcAft>
              <a:buSzPts val="275"/>
              <a:buNone/>
            </a:pPr>
            <a:r>
              <a:t/>
            </a:r>
            <a:endParaRPr sz="100">
              <a:latin typeface="Arial"/>
              <a:ea typeface="Arial"/>
              <a:cs typeface="Arial"/>
              <a:sym typeface="Arial"/>
            </a:endParaRPr>
          </a:p>
          <a:p>
            <a:pPr indent="0" lvl="0" marL="0" rtl="0" algn="l">
              <a:lnSpc>
                <a:spcPct val="95000"/>
              </a:lnSpc>
              <a:spcBef>
                <a:spcPts val="1200"/>
              </a:spcBef>
              <a:spcAft>
                <a:spcPts val="1200"/>
              </a:spcAft>
              <a:buSzPts val="275"/>
              <a:buNone/>
            </a:pPr>
            <a:r>
              <a:t/>
            </a:r>
            <a:endParaRPr sz="150"/>
          </a:p>
        </p:txBody>
      </p:sp>
      <p:sp>
        <p:nvSpPr>
          <p:cNvPr id="122" name="Google Shape;122;p20"/>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1"/>
          <p:cNvSpPr txBox="1"/>
          <p:nvPr>
            <p:ph type="title"/>
          </p:nvPr>
        </p:nvSpPr>
        <p:spPr>
          <a:xfrm>
            <a:off x="311700" y="216951"/>
            <a:ext cx="8520600" cy="75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Problem 1 : Unclear Spending Patterns</a:t>
            </a:r>
            <a:endParaRPr/>
          </a:p>
        </p:txBody>
      </p:sp>
      <p:pic>
        <p:nvPicPr>
          <p:cNvPr id="128" name="Google Shape;128;p21"/>
          <p:cNvPicPr preferRelativeResize="0"/>
          <p:nvPr/>
        </p:nvPicPr>
        <p:blipFill>
          <a:blip r:embed="rId3">
            <a:alphaModFix/>
          </a:blip>
          <a:stretch>
            <a:fillRect/>
          </a:stretch>
        </p:blipFill>
        <p:spPr>
          <a:xfrm>
            <a:off x="4738675" y="1132250"/>
            <a:ext cx="4167199" cy="2511049"/>
          </a:xfrm>
          <a:prstGeom prst="rect">
            <a:avLst/>
          </a:prstGeom>
          <a:noFill/>
          <a:ln>
            <a:noFill/>
          </a:ln>
        </p:spPr>
      </p:pic>
      <p:sp>
        <p:nvSpPr>
          <p:cNvPr id="129" name="Google Shape;129;p21"/>
          <p:cNvSpPr txBox="1"/>
          <p:nvPr/>
        </p:nvSpPr>
        <p:spPr>
          <a:xfrm>
            <a:off x="4870975" y="3580950"/>
            <a:ext cx="4167300" cy="3015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US" sz="900">
                <a:solidFill>
                  <a:schemeClr val="dk1"/>
                </a:solidFill>
                <a:latin typeface="Playfair Display"/>
                <a:ea typeface="Playfair Display"/>
                <a:cs typeface="Playfair Display"/>
                <a:sym typeface="Playfair Display"/>
              </a:rPr>
              <a:t>Graph Explanation</a:t>
            </a:r>
            <a:endParaRPr b="1" sz="900">
              <a:solidFill>
                <a:schemeClr val="dk1"/>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US" sz="700">
                <a:solidFill>
                  <a:schemeClr val="dk1"/>
                </a:solidFill>
                <a:latin typeface="Playfair Display"/>
                <a:ea typeface="Playfair Display"/>
                <a:cs typeface="Playfair Display"/>
                <a:sym typeface="Playfair Display"/>
              </a:rPr>
              <a:t>1. Monthly Spending on Dairy Products (Bar Graph - Top Left)</a:t>
            </a:r>
            <a:endParaRPr b="1"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1200"/>
              </a:spcBef>
              <a:spcAft>
                <a:spcPts val="0"/>
              </a:spcAft>
              <a:buClr>
                <a:schemeClr val="dk1"/>
              </a:buClr>
              <a:buSzPts val="700"/>
              <a:buFont typeface="Playfair Display"/>
              <a:buChar char="●"/>
            </a:pPr>
            <a:r>
              <a:rPr lang="en-US" sz="700">
                <a:solidFill>
                  <a:schemeClr val="dk1"/>
                </a:solidFill>
                <a:latin typeface="Playfair Display"/>
                <a:ea typeface="Playfair Display"/>
                <a:cs typeface="Playfair Display"/>
                <a:sym typeface="Playfair Display"/>
              </a:rPr>
              <a:t>Displays total monthly spending on dairy products for March, April, and May.</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Observation:</a:t>
            </a:r>
            <a:r>
              <a:rPr lang="en-US" sz="700">
                <a:solidFill>
                  <a:schemeClr val="dk1"/>
                </a:solidFill>
                <a:latin typeface="Playfair Display"/>
                <a:ea typeface="Playfair Display"/>
                <a:cs typeface="Playfair Display"/>
                <a:sym typeface="Playfair Display"/>
              </a:rPr>
              <a:t> Spending increases progressively, with May showing the highest spending.</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Insight:</a:t>
            </a:r>
            <a:r>
              <a:rPr lang="en-US" sz="700">
                <a:solidFill>
                  <a:schemeClr val="dk1"/>
                </a:solidFill>
                <a:latin typeface="Playfair Display"/>
                <a:ea typeface="Playfair Display"/>
                <a:cs typeface="Playfair Display"/>
                <a:sym typeface="Playfair Display"/>
              </a:rPr>
              <a:t> Indicates seasonal or trend-based growth in demand.</a:t>
            </a:r>
            <a:endParaRPr sz="700">
              <a:solidFill>
                <a:schemeClr val="dk1"/>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US" sz="700">
                <a:solidFill>
                  <a:schemeClr val="dk1"/>
                </a:solidFill>
                <a:latin typeface="Playfair Display"/>
                <a:ea typeface="Playfair Display"/>
                <a:cs typeface="Playfair Display"/>
                <a:sym typeface="Playfair Display"/>
              </a:rPr>
              <a:t>2. Weekly vs. Weekend Sales Trends (Line Graph - Top Right)</a:t>
            </a:r>
            <a:endParaRPr b="1"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1200"/>
              </a:spcBef>
              <a:spcAft>
                <a:spcPts val="0"/>
              </a:spcAft>
              <a:buClr>
                <a:schemeClr val="dk1"/>
              </a:buClr>
              <a:buSzPts val="700"/>
              <a:buFont typeface="Playfair Display"/>
              <a:buChar char="●"/>
            </a:pPr>
            <a:r>
              <a:rPr lang="en-US" sz="700">
                <a:solidFill>
                  <a:schemeClr val="dk1"/>
                </a:solidFill>
                <a:latin typeface="Playfair Display"/>
                <a:ea typeface="Playfair Display"/>
                <a:cs typeface="Playfair Display"/>
                <a:sym typeface="Playfair Display"/>
              </a:rPr>
              <a:t>Compares sales on weekdays and weekends.</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Observation:</a:t>
            </a:r>
            <a:r>
              <a:rPr lang="en-US" sz="700">
                <a:solidFill>
                  <a:schemeClr val="dk1"/>
                </a:solidFill>
                <a:latin typeface="Playfair Display"/>
                <a:ea typeface="Playfair Display"/>
                <a:cs typeface="Playfair Display"/>
                <a:sym typeface="Playfair Display"/>
              </a:rPr>
              <a:t> Weekends generally show higher sales spikes compared to weekdays.</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Insight:</a:t>
            </a:r>
            <a:r>
              <a:rPr lang="en-US" sz="700">
                <a:solidFill>
                  <a:schemeClr val="dk1"/>
                </a:solidFill>
                <a:latin typeface="Playfair Display"/>
                <a:ea typeface="Playfair Display"/>
                <a:cs typeface="Playfair Display"/>
                <a:sym typeface="Playfair Display"/>
              </a:rPr>
              <a:t> Helps plan promotions and inventory management for peak periods.</a:t>
            </a:r>
            <a:endParaRPr sz="700">
              <a:solidFill>
                <a:schemeClr val="dk1"/>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rPr b="1" lang="en-US" sz="700">
                <a:solidFill>
                  <a:schemeClr val="dk1"/>
                </a:solidFill>
                <a:latin typeface="Playfair Display"/>
                <a:ea typeface="Playfair Display"/>
                <a:cs typeface="Playfair Display"/>
                <a:sym typeface="Playfair Display"/>
              </a:rPr>
              <a:t>3. Demand Forecasting (Line Graph - Bottom)</a:t>
            </a:r>
            <a:endParaRPr b="1"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1200"/>
              </a:spcBef>
              <a:spcAft>
                <a:spcPts val="0"/>
              </a:spcAft>
              <a:buClr>
                <a:schemeClr val="dk1"/>
              </a:buClr>
              <a:buSzPts val="700"/>
              <a:buFont typeface="Playfair Display"/>
              <a:buChar char="●"/>
            </a:pPr>
            <a:r>
              <a:rPr lang="en-US" sz="700">
                <a:solidFill>
                  <a:schemeClr val="dk1"/>
                </a:solidFill>
                <a:latin typeface="Playfair Display"/>
                <a:ea typeface="Playfair Display"/>
                <a:cs typeface="Playfair Display"/>
                <a:sym typeface="Playfair Display"/>
              </a:rPr>
              <a:t>Shows training data, actual sales, and forecasted sales.</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Observation:</a:t>
            </a:r>
            <a:r>
              <a:rPr lang="en-US" sz="700">
                <a:solidFill>
                  <a:schemeClr val="dk1"/>
                </a:solidFill>
                <a:latin typeface="Playfair Display"/>
                <a:ea typeface="Playfair Display"/>
                <a:cs typeface="Playfair Display"/>
                <a:sym typeface="Playfair Display"/>
              </a:rPr>
              <a:t> The model captures sales peaks and troughs, with high accuracy in predicting future trends.</a:t>
            </a:r>
            <a:endParaRPr sz="700">
              <a:solidFill>
                <a:schemeClr val="dk1"/>
              </a:solidFill>
              <a:latin typeface="Playfair Display"/>
              <a:ea typeface="Playfair Display"/>
              <a:cs typeface="Playfair Display"/>
              <a:sym typeface="Playfair Display"/>
            </a:endParaRPr>
          </a:p>
          <a:p>
            <a:pPr indent="-273050" lvl="0" marL="457200" rtl="0" algn="l">
              <a:lnSpc>
                <a:spcPct val="115000"/>
              </a:lnSpc>
              <a:spcBef>
                <a:spcPts val="0"/>
              </a:spcBef>
              <a:spcAft>
                <a:spcPts val="0"/>
              </a:spcAft>
              <a:buClr>
                <a:schemeClr val="dk1"/>
              </a:buClr>
              <a:buSzPts val="700"/>
              <a:buChar char="●"/>
            </a:pPr>
            <a:r>
              <a:rPr b="1" lang="en-US" sz="700">
                <a:solidFill>
                  <a:schemeClr val="dk1"/>
                </a:solidFill>
                <a:latin typeface="Playfair Display"/>
                <a:ea typeface="Playfair Display"/>
                <a:cs typeface="Playfair Display"/>
                <a:sym typeface="Playfair Display"/>
              </a:rPr>
              <a:t>Insight:</a:t>
            </a:r>
            <a:r>
              <a:rPr lang="en-US" sz="700">
                <a:solidFill>
                  <a:schemeClr val="dk1"/>
                </a:solidFill>
                <a:latin typeface="Playfair Display"/>
                <a:ea typeface="Playfair Display"/>
                <a:cs typeface="Playfair Display"/>
                <a:sym typeface="Playfair Display"/>
              </a:rPr>
              <a:t> Aids in proactive planning to meet demand and avoid overstocking or stockouts.</a:t>
            </a:r>
            <a:endParaRPr sz="700">
              <a:solidFill>
                <a:schemeClr val="dk1"/>
              </a:solidFill>
              <a:latin typeface="Playfair Display"/>
              <a:ea typeface="Playfair Display"/>
              <a:cs typeface="Playfair Display"/>
              <a:sym typeface="Playfair Display"/>
            </a:endParaRPr>
          </a:p>
          <a:p>
            <a:pPr indent="0" lvl="0" marL="0" rtl="0" algn="l">
              <a:lnSpc>
                <a:spcPct val="115000"/>
              </a:lnSpc>
              <a:spcBef>
                <a:spcPts val="1200"/>
              </a:spcBef>
              <a:spcAft>
                <a:spcPts val="0"/>
              </a:spcAft>
              <a:buNone/>
            </a:pPr>
            <a:r>
              <a:t/>
            </a:r>
            <a:endParaRPr b="1" sz="900">
              <a:solidFill>
                <a:schemeClr val="dk1"/>
              </a:solidFill>
              <a:latin typeface="Playfair Display"/>
              <a:ea typeface="Playfair Display"/>
              <a:cs typeface="Playfair Display"/>
              <a:sym typeface="Playfair Display"/>
            </a:endParaRPr>
          </a:p>
          <a:p>
            <a:pPr indent="0" lvl="0" marL="0" rtl="0" algn="l">
              <a:spcBef>
                <a:spcPts val="1200"/>
              </a:spcBef>
              <a:spcAft>
                <a:spcPts val="0"/>
              </a:spcAft>
              <a:buNone/>
            </a:pPr>
            <a:r>
              <a:t/>
            </a:r>
            <a:endParaRPr sz="1900">
              <a:solidFill>
                <a:schemeClr val="dk1"/>
              </a:solidFill>
              <a:latin typeface="Playfair Display"/>
              <a:ea typeface="Playfair Display"/>
              <a:cs typeface="Playfair Display"/>
              <a:sym typeface="Playfair Display"/>
            </a:endParaRPr>
          </a:p>
        </p:txBody>
      </p:sp>
      <p:pic>
        <p:nvPicPr>
          <p:cNvPr id="130" name="Google Shape;130;p21"/>
          <p:cNvPicPr preferRelativeResize="0"/>
          <p:nvPr/>
        </p:nvPicPr>
        <p:blipFill>
          <a:blip r:embed="rId4">
            <a:alphaModFix/>
          </a:blip>
          <a:stretch>
            <a:fillRect/>
          </a:stretch>
        </p:blipFill>
        <p:spPr>
          <a:xfrm>
            <a:off x="152400" y="1124475"/>
            <a:ext cx="4334924" cy="2518825"/>
          </a:xfrm>
          <a:prstGeom prst="rect">
            <a:avLst/>
          </a:prstGeom>
          <a:noFill/>
          <a:ln>
            <a:noFill/>
          </a:ln>
        </p:spPr>
      </p:pic>
      <p:pic>
        <p:nvPicPr>
          <p:cNvPr id="131" name="Google Shape;131;p21"/>
          <p:cNvPicPr preferRelativeResize="0"/>
          <p:nvPr/>
        </p:nvPicPr>
        <p:blipFill>
          <a:blip r:embed="rId5">
            <a:alphaModFix/>
          </a:blip>
          <a:stretch>
            <a:fillRect/>
          </a:stretch>
        </p:blipFill>
        <p:spPr>
          <a:xfrm>
            <a:off x="152400" y="3795700"/>
            <a:ext cx="4566176" cy="2800550"/>
          </a:xfrm>
          <a:prstGeom prst="rect">
            <a:avLst/>
          </a:prstGeom>
          <a:noFill/>
          <a:ln>
            <a:noFill/>
          </a:ln>
        </p:spPr>
      </p:pic>
      <p:sp>
        <p:nvSpPr>
          <p:cNvPr id="132" name="Google Shape;132;p2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2800"/>
              <a:t>Problem 2</a:t>
            </a:r>
            <a:r>
              <a:rPr lang="en-US"/>
              <a:t>:</a:t>
            </a:r>
            <a:r>
              <a:rPr lang="en-US" sz="1600">
                <a:latin typeface="Arial"/>
                <a:ea typeface="Arial"/>
                <a:cs typeface="Arial"/>
                <a:sym typeface="Arial"/>
              </a:rPr>
              <a:t> </a:t>
            </a:r>
            <a:r>
              <a:rPr lang="en-US" sz="2400"/>
              <a:t>Frequent Stockouts of Popular Items</a:t>
            </a:r>
            <a:endParaRPr sz="2400"/>
          </a:p>
          <a:p>
            <a:pPr indent="0" lvl="0" marL="0" rtl="0" algn="ctr">
              <a:spcBef>
                <a:spcPts val="0"/>
              </a:spcBef>
              <a:spcAft>
                <a:spcPts val="0"/>
              </a:spcAft>
              <a:buNone/>
            </a:pPr>
            <a:r>
              <a:t/>
            </a:r>
            <a:endParaRPr/>
          </a:p>
        </p:txBody>
      </p:sp>
      <p:sp>
        <p:nvSpPr>
          <p:cNvPr id="138" name="Google Shape;138;p22"/>
          <p:cNvSpPr txBox="1"/>
          <p:nvPr>
            <p:ph idx="1" type="body"/>
          </p:nvPr>
        </p:nvSpPr>
        <p:spPr>
          <a:xfrm>
            <a:off x="4673775" y="1417650"/>
            <a:ext cx="4013100" cy="4708800"/>
          </a:xfrm>
          <a:prstGeom prst="rect">
            <a:avLst/>
          </a:prstGeom>
        </p:spPr>
        <p:txBody>
          <a:bodyPr anchorCtr="0" anchor="t" bIns="45700" lIns="91425" spcFirstLastPara="1" rIns="91425" wrap="square" tIns="45700">
            <a:normAutofit fontScale="25000" lnSpcReduction="10000"/>
          </a:bodyPr>
          <a:lstStyle/>
          <a:p>
            <a:pPr indent="0" lvl="0" marL="0" rtl="0" algn="l">
              <a:spcBef>
                <a:spcPts val="360"/>
              </a:spcBef>
              <a:spcAft>
                <a:spcPts val="0"/>
              </a:spcAft>
              <a:buNone/>
            </a:pPr>
            <a:r>
              <a:rPr b="1" lang="en-US" sz="5197" u="sng">
                <a:latin typeface="Arial"/>
                <a:ea typeface="Arial"/>
                <a:cs typeface="Arial"/>
                <a:sym typeface="Arial"/>
              </a:rPr>
              <a:t>key insights:</a:t>
            </a:r>
            <a:endParaRPr b="1" sz="5197" u="sng">
              <a:latin typeface="Arial"/>
              <a:ea typeface="Arial"/>
              <a:cs typeface="Arial"/>
              <a:sym typeface="Arial"/>
            </a:endParaRPr>
          </a:p>
          <a:p>
            <a:pPr indent="0" lvl="0" marL="0" rtl="0" algn="l">
              <a:spcBef>
                <a:spcPts val="1200"/>
              </a:spcBef>
              <a:spcAft>
                <a:spcPts val="0"/>
              </a:spcAft>
              <a:buNone/>
            </a:pPr>
            <a:r>
              <a:rPr b="1" lang="en-US" sz="3865">
                <a:latin typeface="Arial"/>
                <a:ea typeface="Arial"/>
                <a:cs typeface="Arial"/>
                <a:sym typeface="Arial"/>
              </a:rPr>
              <a:t>Top-Selling Products:</a:t>
            </a:r>
            <a:br>
              <a:rPr b="1" lang="en-US" sz="3865">
                <a:latin typeface="Arial"/>
                <a:ea typeface="Arial"/>
                <a:cs typeface="Arial"/>
                <a:sym typeface="Arial"/>
              </a:rPr>
            </a:br>
            <a:r>
              <a:rPr lang="en-US" sz="3865">
                <a:latin typeface="Arial"/>
                <a:ea typeface="Arial"/>
                <a:cs typeface="Arial"/>
                <a:sym typeface="Arial"/>
              </a:rPr>
              <a:t>These are the most frequently sold products, including items like </a:t>
            </a:r>
            <a:r>
              <a:rPr b="1" lang="en-US" sz="3865">
                <a:latin typeface="Arial"/>
                <a:ea typeface="Arial"/>
                <a:cs typeface="Arial"/>
                <a:sym typeface="Arial"/>
              </a:rPr>
              <a:t>Nescafe Classic Coffee 110g</a:t>
            </a:r>
            <a:r>
              <a:rPr lang="en-US" sz="3865">
                <a:latin typeface="Arial"/>
                <a:ea typeface="Arial"/>
                <a:cs typeface="Arial"/>
                <a:sym typeface="Arial"/>
              </a:rPr>
              <a:t> and </a:t>
            </a:r>
            <a:r>
              <a:rPr b="1" lang="en-US" sz="3865">
                <a:latin typeface="Arial"/>
                <a:ea typeface="Arial"/>
                <a:cs typeface="Arial"/>
                <a:sym typeface="Arial"/>
              </a:rPr>
              <a:t>Shampoo S 3</a:t>
            </a:r>
            <a:r>
              <a:rPr lang="en-US" sz="3865">
                <a:latin typeface="Arial"/>
                <a:ea typeface="Arial"/>
                <a:cs typeface="Arial"/>
                <a:sym typeface="Arial"/>
              </a:rPr>
              <a:t>.</a:t>
            </a:r>
            <a:br>
              <a:rPr lang="en-US" sz="3865">
                <a:latin typeface="Arial"/>
                <a:ea typeface="Arial"/>
                <a:cs typeface="Arial"/>
                <a:sym typeface="Arial"/>
              </a:rPr>
            </a:br>
            <a:r>
              <a:rPr lang="en-US" sz="3865">
                <a:latin typeface="Arial"/>
                <a:ea typeface="Arial"/>
                <a:cs typeface="Arial"/>
                <a:sym typeface="Arial"/>
              </a:rPr>
              <a:t>They are critical to overall sales and require priority in inventory management.</a:t>
            </a:r>
            <a:endParaRPr sz="3865">
              <a:latin typeface="Arial"/>
              <a:ea typeface="Arial"/>
              <a:cs typeface="Arial"/>
              <a:sym typeface="Arial"/>
            </a:endParaRPr>
          </a:p>
          <a:p>
            <a:pPr indent="0" lvl="0" marL="0" rtl="0" algn="l">
              <a:spcBef>
                <a:spcPts val="1200"/>
              </a:spcBef>
              <a:spcAft>
                <a:spcPts val="0"/>
              </a:spcAft>
              <a:buNone/>
            </a:pPr>
            <a:r>
              <a:t/>
            </a:r>
            <a:endParaRPr sz="3865">
              <a:latin typeface="Arial"/>
              <a:ea typeface="Arial"/>
              <a:cs typeface="Arial"/>
              <a:sym typeface="Arial"/>
            </a:endParaRPr>
          </a:p>
          <a:p>
            <a:pPr indent="0" lvl="0" marL="0" rtl="0" algn="l">
              <a:spcBef>
                <a:spcPts val="1200"/>
              </a:spcBef>
              <a:spcAft>
                <a:spcPts val="0"/>
              </a:spcAft>
              <a:buNone/>
            </a:pPr>
            <a:r>
              <a:rPr lang="en-US" sz="3865">
                <a:latin typeface="Arial"/>
                <a:ea typeface="Arial"/>
                <a:cs typeface="Arial"/>
                <a:sym typeface="Arial"/>
              </a:rPr>
              <a:t>What is reorder point:</a:t>
            </a:r>
            <a:endParaRPr sz="3865">
              <a:latin typeface="Arial"/>
              <a:ea typeface="Arial"/>
              <a:cs typeface="Arial"/>
              <a:sym typeface="Arial"/>
            </a:endParaRPr>
          </a:p>
          <a:p>
            <a:pPr indent="0" lvl="0" marL="0" rtl="0" algn="l">
              <a:spcBef>
                <a:spcPts val="1200"/>
              </a:spcBef>
              <a:spcAft>
                <a:spcPts val="0"/>
              </a:spcAft>
              <a:buNone/>
            </a:pPr>
            <a:r>
              <a:rPr lang="en-US" sz="3865">
                <a:latin typeface="Arial"/>
                <a:ea typeface="Arial"/>
                <a:cs typeface="Arial"/>
                <a:sym typeface="Arial"/>
              </a:rPr>
              <a:t>A </a:t>
            </a:r>
            <a:r>
              <a:rPr b="1" lang="en-US" sz="3865">
                <a:latin typeface="Arial"/>
                <a:ea typeface="Arial"/>
                <a:cs typeface="Arial"/>
                <a:sym typeface="Arial"/>
              </a:rPr>
              <a:t>Reorder Point (ROP)</a:t>
            </a:r>
            <a:r>
              <a:rPr lang="en-US" sz="3865">
                <a:latin typeface="Arial"/>
                <a:ea typeface="Arial"/>
                <a:cs typeface="Arial"/>
                <a:sym typeface="Arial"/>
              </a:rPr>
              <a:t> is the inventory level at which a new order should be placed to replenish stock before it runs out. It ensures that you always have enough stock to meet customer demand during the lead time (the time it takes to receive the order).</a:t>
            </a:r>
            <a:endParaRPr sz="3865">
              <a:latin typeface="Arial"/>
              <a:ea typeface="Arial"/>
              <a:cs typeface="Arial"/>
              <a:sym typeface="Arial"/>
            </a:endParaRPr>
          </a:p>
          <a:p>
            <a:pPr indent="0" lvl="0" marL="0" rtl="0" algn="l">
              <a:spcBef>
                <a:spcPts val="1200"/>
              </a:spcBef>
              <a:spcAft>
                <a:spcPts val="0"/>
              </a:spcAft>
              <a:buNone/>
            </a:pPr>
            <a:r>
              <a:rPr lang="en-US" sz="3865">
                <a:latin typeface="Arial"/>
                <a:ea typeface="Arial"/>
                <a:cs typeface="Arial"/>
                <a:sym typeface="Arial"/>
              </a:rPr>
              <a:t>Reorder Point (ROP)=(Average Daily Usage×Lead Time)+Safety Stock</a:t>
            </a:r>
            <a:endParaRPr sz="3865">
              <a:latin typeface="Arial"/>
              <a:ea typeface="Arial"/>
              <a:cs typeface="Arial"/>
              <a:sym typeface="Arial"/>
            </a:endParaRPr>
          </a:p>
          <a:p>
            <a:pPr indent="0" lvl="0" marL="0" rtl="0" algn="l">
              <a:spcBef>
                <a:spcPts val="1200"/>
              </a:spcBef>
              <a:spcAft>
                <a:spcPts val="0"/>
              </a:spcAft>
              <a:buNone/>
            </a:pPr>
            <a:r>
              <a:t/>
            </a:r>
            <a:endParaRPr sz="3865">
              <a:latin typeface="Arial"/>
              <a:ea typeface="Arial"/>
              <a:cs typeface="Arial"/>
              <a:sym typeface="Arial"/>
            </a:endParaRPr>
          </a:p>
          <a:p>
            <a:pPr indent="0" lvl="0" marL="0" rtl="0" algn="l">
              <a:spcBef>
                <a:spcPts val="1200"/>
              </a:spcBef>
              <a:spcAft>
                <a:spcPts val="0"/>
              </a:spcAft>
              <a:buNone/>
            </a:pPr>
            <a:r>
              <a:rPr b="1" lang="en-US" sz="3865">
                <a:latin typeface="Arial"/>
                <a:ea typeface="Arial"/>
                <a:cs typeface="Arial"/>
                <a:sym typeface="Arial"/>
              </a:rPr>
              <a:t>Reorder Point Analysis:</a:t>
            </a:r>
            <a:br>
              <a:rPr b="1" lang="en-US" sz="3865">
                <a:latin typeface="Arial"/>
                <a:ea typeface="Arial"/>
                <a:cs typeface="Arial"/>
                <a:sym typeface="Arial"/>
              </a:rPr>
            </a:br>
            <a:r>
              <a:rPr lang="en-US" sz="3865">
                <a:latin typeface="Arial"/>
                <a:ea typeface="Arial"/>
                <a:cs typeface="Arial"/>
                <a:sym typeface="Arial"/>
              </a:rPr>
              <a:t>The green bar chart highlights reorder points for these top 10 products, ensuring timely restocking to prevent stockouts.</a:t>
            </a:r>
            <a:br>
              <a:rPr lang="en-US" sz="3865">
                <a:latin typeface="Arial"/>
                <a:ea typeface="Arial"/>
                <a:cs typeface="Arial"/>
                <a:sym typeface="Arial"/>
              </a:rPr>
            </a:br>
            <a:r>
              <a:rPr lang="en-US" sz="3865">
                <a:latin typeface="Arial"/>
                <a:ea typeface="Arial"/>
                <a:cs typeface="Arial"/>
                <a:sym typeface="Arial"/>
              </a:rPr>
              <a:t>Focusing on these frequently sold products helps maintain consistent availability and maximizes revenue.</a:t>
            </a:r>
            <a:endParaRPr sz="3865">
              <a:latin typeface="Arial"/>
              <a:ea typeface="Arial"/>
              <a:cs typeface="Arial"/>
              <a:sym typeface="Arial"/>
            </a:endParaRPr>
          </a:p>
          <a:p>
            <a:pPr indent="0" lvl="0" marL="0" rtl="0" algn="l">
              <a:spcBef>
                <a:spcPts val="1200"/>
              </a:spcBef>
              <a:spcAft>
                <a:spcPts val="1200"/>
              </a:spcAft>
              <a:buNone/>
            </a:pPr>
            <a:r>
              <a:t/>
            </a:r>
            <a:endParaRPr/>
          </a:p>
        </p:txBody>
      </p:sp>
      <p:pic>
        <p:nvPicPr>
          <p:cNvPr id="139" name="Google Shape;139;p22"/>
          <p:cNvPicPr preferRelativeResize="0"/>
          <p:nvPr/>
        </p:nvPicPr>
        <p:blipFill>
          <a:blip r:embed="rId3">
            <a:alphaModFix/>
          </a:blip>
          <a:stretch>
            <a:fillRect/>
          </a:stretch>
        </p:blipFill>
        <p:spPr>
          <a:xfrm>
            <a:off x="152400" y="1004700"/>
            <a:ext cx="4292774" cy="2549575"/>
          </a:xfrm>
          <a:prstGeom prst="rect">
            <a:avLst/>
          </a:prstGeom>
          <a:noFill/>
          <a:ln>
            <a:noFill/>
          </a:ln>
        </p:spPr>
      </p:pic>
      <p:pic>
        <p:nvPicPr>
          <p:cNvPr id="140" name="Google Shape;140;p22"/>
          <p:cNvPicPr preferRelativeResize="0"/>
          <p:nvPr/>
        </p:nvPicPr>
        <p:blipFill>
          <a:blip r:embed="rId4">
            <a:alphaModFix/>
          </a:blip>
          <a:stretch>
            <a:fillRect/>
          </a:stretch>
        </p:blipFill>
        <p:spPr>
          <a:xfrm>
            <a:off x="170563" y="3658625"/>
            <a:ext cx="4256449" cy="2812100"/>
          </a:xfrm>
          <a:prstGeom prst="rect">
            <a:avLst/>
          </a:prstGeom>
          <a:noFill/>
          <a:ln>
            <a:noFill/>
          </a:ln>
        </p:spPr>
      </p:pic>
      <p:sp>
        <p:nvSpPr>
          <p:cNvPr id="141" name="Google Shape;141;p22"/>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sz="2900"/>
              <a:t>Problem 3: </a:t>
            </a:r>
            <a:r>
              <a:rPr lang="en-US" sz="2900"/>
              <a:t>Ineffective</a:t>
            </a:r>
            <a:r>
              <a:rPr lang="en-US" sz="2900"/>
              <a:t> Budget Allocation</a:t>
            </a:r>
            <a:endParaRPr b="0" sz="2500">
              <a:latin typeface="Lato"/>
              <a:ea typeface="Lato"/>
              <a:cs typeface="Lato"/>
              <a:sym typeface="Lato"/>
            </a:endParaRPr>
          </a:p>
          <a:p>
            <a:pPr indent="0" lvl="0" marL="0" rtl="0" algn="ctr">
              <a:spcBef>
                <a:spcPts val="0"/>
              </a:spcBef>
              <a:spcAft>
                <a:spcPts val="0"/>
              </a:spcAft>
              <a:buNone/>
            </a:pPr>
            <a:r>
              <a:t/>
            </a:r>
            <a:endParaRPr/>
          </a:p>
        </p:txBody>
      </p:sp>
      <p:sp>
        <p:nvSpPr>
          <p:cNvPr id="147" name="Google Shape;147;p23"/>
          <p:cNvSpPr txBox="1"/>
          <p:nvPr>
            <p:ph idx="1" type="body"/>
          </p:nvPr>
        </p:nvSpPr>
        <p:spPr>
          <a:xfrm>
            <a:off x="4947775" y="1362200"/>
            <a:ext cx="3791100" cy="4764000"/>
          </a:xfrm>
          <a:prstGeom prst="rect">
            <a:avLst/>
          </a:prstGeom>
        </p:spPr>
        <p:txBody>
          <a:bodyPr anchorCtr="0" anchor="t" bIns="45700" lIns="91425" spcFirstLastPara="1" rIns="91425" wrap="square" tIns="45700">
            <a:noAutofit/>
          </a:bodyPr>
          <a:lstStyle/>
          <a:p>
            <a:pPr indent="0" lvl="0" marL="0" rtl="0" algn="l">
              <a:lnSpc>
                <a:spcPct val="95000"/>
              </a:lnSpc>
              <a:spcBef>
                <a:spcPts val="1400"/>
              </a:spcBef>
              <a:spcAft>
                <a:spcPts val="0"/>
              </a:spcAft>
              <a:buSzPts val="770"/>
              <a:buNone/>
            </a:pPr>
            <a:r>
              <a:rPr b="1" lang="en-US" sz="1010">
                <a:latin typeface="Arial"/>
                <a:ea typeface="Arial"/>
                <a:cs typeface="Arial"/>
                <a:sym typeface="Arial"/>
              </a:rPr>
              <a:t>Key Observations:</a:t>
            </a:r>
            <a:endParaRPr b="1" sz="1010">
              <a:latin typeface="Arial"/>
              <a:ea typeface="Arial"/>
              <a:cs typeface="Arial"/>
              <a:sym typeface="Arial"/>
            </a:endParaRPr>
          </a:p>
          <a:p>
            <a:pPr indent="-283845" lvl="0" marL="457200" rtl="0" algn="l">
              <a:lnSpc>
                <a:spcPct val="95000"/>
              </a:lnSpc>
              <a:spcBef>
                <a:spcPts val="1200"/>
              </a:spcBef>
              <a:spcAft>
                <a:spcPts val="0"/>
              </a:spcAft>
              <a:buClr>
                <a:schemeClr val="dk1"/>
              </a:buClr>
              <a:buSzPts val="870"/>
              <a:buFont typeface="Arial"/>
              <a:buAutoNum type="arabicPeriod"/>
            </a:pPr>
            <a:r>
              <a:rPr b="1" lang="en-US" sz="870">
                <a:latin typeface="Arial"/>
                <a:ea typeface="Arial"/>
                <a:cs typeface="Arial"/>
                <a:sym typeface="Arial"/>
              </a:rPr>
              <a:t>Under-Invested High Performers:</a:t>
            </a:r>
            <a:endParaRPr b="1"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AMUL CHEESE GRATED 1kg:</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Budget Allocation: </a:t>
            </a:r>
            <a:r>
              <a:rPr b="1" lang="en-US" sz="870">
                <a:latin typeface="Arial"/>
                <a:ea typeface="Arial"/>
                <a:cs typeface="Arial"/>
                <a:sym typeface="Arial"/>
              </a:rPr>
              <a:t>0.23%</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Revenue Contribution: </a:t>
            </a:r>
            <a:r>
              <a:rPr b="1" lang="en-US" sz="870">
                <a:latin typeface="Arial"/>
                <a:ea typeface="Arial"/>
                <a:cs typeface="Arial"/>
                <a:sym typeface="Arial"/>
              </a:rPr>
              <a:t>1.47%</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Insight:</a:t>
            </a:r>
            <a:r>
              <a:rPr lang="en-US" sz="870">
                <a:latin typeface="Arial"/>
                <a:ea typeface="Arial"/>
                <a:cs typeface="Arial"/>
                <a:sym typeface="Arial"/>
              </a:rPr>
              <a:t> This product generates significant revenue compared to its small budget allocation, indicating potential for higher profitability if the investment is increased.</a:t>
            </a:r>
            <a:endParaRPr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FRESH ALMONDS (BADAM) 500g:</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Budget Allocation: </a:t>
            </a:r>
            <a:r>
              <a:rPr b="1" lang="en-US" sz="870">
                <a:latin typeface="Arial"/>
                <a:ea typeface="Arial"/>
                <a:cs typeface="Arial"/>
                <a:sym typeface="Arial"/>
              </a:rPr>
              <a:t>0.13%</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Revenue Contribution: </a:t>
            </a:r>
            <a:r>
              <a:rPr b="1" lang="en-US" sz="870">
                <a:latin typeface="Arial"/>
                <a:ea typeface="Arial"/>
                <a:cs typeface="Arial"/>
                <a:sym typeface="Arial"/>
              </a:rPr>
              <a:t>1.17%</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Insight:</a:t>
            </a:r>
            <a:r>
              <a:rPr lang="en-US" sz="870">
                <a:latin typeface="Arial"/>
                <a:ea typeface="Arial"/>
                <a:cs typeface="Arial"/>
                <a:sym typeface="Arial"/>
              </a:rPr>
              <a:t> Another strong revenue generator that is under-invested. Increasing its budget allocation could further boost sales.</a:t>
            </a:r>
            <a:endParaRPr sz="870">
              <a:latin typeface="Arial"/>
              <a:ea typeface="Arial"/>
              <a:cs typeface="Arial"/>
              <a:sym typeface="Arial"/>
            </a:endParaRPr>
          </a:p>
          <a:p>
            <a:pPr indent="-283845" lvl="0" marL="457200" rtl="0" algn="l">
              <a:lnSpc>
                <a:spcPct val="95000"/>
              </a:lnSpc>
              <a:spcBef>
                <a:spcPts val="0"/>
              </a:spcBef>
              <a:spcAft>
                <a:spcPts val="0"/>
              </a:spcAft>
              <a:buClr>
                <a:schemeClr val="dk1"/>
              </a:buClr>
              <a:buSzPts val="870"/>
              <a:buFont typeface="Arial"/>
              <a:buAutoNum type="arabicPeriod"/>
            </a:pPr>
            <a:r>
              <a:rPr b="1" lang="en-US" sz="870">
                <a:latin typeface="Arial"/>
                <a:ea typeface="Arial"/>
                <a:cs typeface="Arial"/>
                <a:sym typeface="Arial"/>
              </a:rPr>
              <a:t>Balanced Products:</a:t>
            </a:r>
            <a:endParaRPr b="1"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TOOR/ARHAR DAL VALUE 1kg PP:</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Budget Allocation: </a:t>
            </a:r>
            <a:r>
              <a:rPr b="1" lang="en-US" sz="870">
                <a:latin typeface="Arial"/>
                <a:ea typeface="Arial"/>
                <a:cs typeface="Arial"/>
                <a:sym typeface="Arial"/>
              </a:rPr>
              <a:t>0.52%</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Revenue Contribution: </a:t>
            </a:r>
            <a:r>
              <a:rPr b="1" lang="en-US" sz="870">
                <a:latin typeface="Arial"/>
                <a:ea typeface="Arial"/>
                <a:cs typeface="Arial"/>
                <a:sym typeface="Arial"/>
              </a:rPr>
              <a:t>1.00%</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Insight:</a:t>
            </a:r>
            <a:r>
              <a:rPr lang="en-US" sz="870">
                <a:latin typeface="Arial"/>
                <a:ea typeface="Arial"/>
                <a:cs typeface="Arial"/>
                <a:sym typeface="Arial"/>
              </a:rPr>
              <a:t> This product has a reasonably aligned budget allocation and revenue contribution, indicating efficient investment.</a:t>
            </a:r>
            <a:endParaRPr sz="870">
              <a:latin typeface="Arial"/>
              <a:ea typeface="Arial"/>
              <a:cs typeface="Arial"/>
              <a:sym typeface="Arial"/>
            </a:endParaRPr>
          </a:p>
          <a:p>
            <a:pPr indent="-283845" lvl="0" marL="457200" rtl="0" algn="l">
              <a:lnSpc>
                <a:spcPct val="95000"/>
              </a:lnSpc>
              <a:spcBef>
                <a:spcPts val="0"/>
              </a:spcBef>
              <a:spcAft>
                <a:spcPts val="0"/>
              </a:spcAft>
              <a:buClr>
                <a:schemeClr val="dk1"/>
              </a:buClr>
              <a:buSzPts val="870"/>
              <a:buFont typeface="Arial"/>
              <a:buAutoNum type="arabicPeriod"/>
            </a:pPr>
            <a:r>
              <a:rPr b="1" lang="en-US" sz="870">
                <a:latin typeface="Arial"/>
                <a:ea typeface="Arial"/>
                <a:cs typeface="Arial"/>
                <a:sym typeface="Arial"/>
              </a:rPr>
              <a:t>Opportunities for Adjustment:</a:t>
            </a:r>
            <a:endParaRPr b="1"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GUPTA GAZAK 500g BOX:</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Budget Allocation: </a:t>
            </a:r>
            <a:r>
              <a:rPr b="1" lang="en-US" sz="870">
                <a:latin typeface="Arial"/>
                <a:ea typeface="Arial"/>
                <a:cs typeface="Arial"/>
                <a:sym typeface="Arial"/>
              </a:rPr>
              <a:t>0.44%</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Revenue Contribution: </a:t>
            </a:r>
            <a:r>
              <a:rPr b="1" lang="en-US" sz="870">
                <a:latin typeface="Arial"/>
                <a:ea typeface="Arial"/>
                <a:cs typeface="Arial"/>
                <a:sym typeface="Arial"/>
              </a:rPr>
              <a:t>0.92%</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Insight:</a:t>
            </a:r>
            <a:r>
              <a:rPr lang="en-US" sz="870">
                <a:latin typeface="Arial"/>
                <a:ea typeface="Arial"/>
                <a:cs typeface="Arial"/>
                <a:sym typeface="Arial"/>
              </a:rPr>
              <a:t> Moderate misalignment; increasing the budget slightly could improve returns.</a:t>
            </a:r>
            <a:endParaRPr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VINOD ROASTED PISTACHIOS 250g PP:</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Budget Allocation: </a:t>
            </a:r>
            <a:r>
              <a:rPr b="1" lang="en-US" sz="870">
                <a:latin typeface="Arial"/>
                <a:ea typeface="Arial"/>
                <a:cs typeface="Arial"/>
                <a:sym typeface="Arial"/>
              </a:rPr>
              <a:t>0.19%</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lang="en-US" sz="870">
                <a:latin typeface="Arial"/>
                <a:ea typeface="Arial"/>
                <a:cs typeface="Arial"/>
                <a:sym typeface="Arial"/>
              </a:rPr>
              <a:t>Revenue Contribution: </a:t>
            </a:r>
            <a:r>
              <a:rPr b="1" lang="en-US" sz="870">
                <a:latin typeface="Arial"/>
                <a:ea typeface="Arial"/>
                <a:cs typeface="Arial"/>
                <a:sym typeface="Arial"/>
              </a:rPr>
              <a:t>0.87%</a:t>
            </a:r>
            <a:endParaRPr b="1" sz="870">
              <a:latin typeface="Arial"/>
              <a:ea typeface="Arial"/>
              <a:cs typeface="Arial"/>
              <a:sym typeface="Arial"/>
            </a:endParaRPr>
          </a:p>
          <a:p>
            <a:pPr indent="-283844" lvl="2" marL="1371600" rtl="0" algn="l">
              <a:lnSpc>
                <a:spcPct val="95000"/>
              </a:lnSpc>
              <a:spcBef>
                <a:spcPts val="0"/>
              </a:spcBef>
              <a:spcAft>
                <a:spcPts val="0"/>
              </a:spcAft>
              <a:buClr>
                <a:schemeClr val="dk1"/>
              </a:buClr>
              <a:buSzPts val="870"/>
              <a:buFont typeface="Arial"/>
              <a:buChar char="■"/>
            </a:pPr>
            <a:r>
              <a:rPr b="1" lang="en-US" sz="870">
                <a:latin typeface="Arial"/>
                <a:ea typeface="Arial"/>
                <a:cs typeface="Arial"/>
                <a:sym typeface="Arial"/>
              </a:rPr>
              <a:t>Insight:</a:t>
            </a:r>
            <a:r>
              <a:rPr lang="en-US" sz="870">
                <a:latin typeface="Arial"/>
                <a:ea typeface="Arial"/>
                <a:cs typeface="Arial"/>
                <a:sym typeface="Arial"/>
              </a:rPr>
              <a:t> This product is under-invested compared to its revenue contribution and could benefit from additional resources.</a:t>
            </a:r>
            <a:endParaRPr sz="870">
              <a:latin typeface="Arial"/>
              <a:ea typeface="Arial"/>
              <a:cs typeface="Arial"/>
              <a:sym typeface="Arial"/>
            </a:endParaRPr>
          </a:p>
          <a:p>
            <a:pPr indent="-283844" lvl="1" marL="914400" rtl="0" algn="l">
              <a:lnSpc>
                <a:spcPct val="95000"/>
              </a:lnSpc>
              <a:spcBef>
                <a:spcPts val="0"/>
              </a:spcBef>
              <a:spcAft>
                <a:spcPts val="0"/>
              </a:spcAft>
              <a:buClr>
                <a:schemeClr val="dk1"/>
              </a:buClr>
              <a:buSzPts val="870"/>
              <a:buFont typeface="Arial"/>
              <a:buChar char="○"/>
            </a:pPr>
            <a:r>
              <a:t/>
            </a:r>
            <a:endParaRPr sz="870">
              <a:latin typeface="Arial"/>
              <a:ea typeface="Arial"/>
              <a:cs typeface="Arial"/>
              <a:sym typeface="Arial"/>
            </a:endParaRPr>
          </a:p>
          <a:p>
            <a:pPr indent="0" lvl="0" marL="0" rtl="0" algn="l">
              <a:lnSpc>
                <a:spcPct val="95000"/>
              </a:lnSpc>
              <a:spcBef>
                <a:spcPts val="1200"/>
              </a:spcBef>
              <a:spcAft>
                <a:spcPts val="1200"/>
              </a:spcAft>
              <a:buSzPts val="770"/>
              <a:buNone/>
            </a:pPr>
            <a:r>
              <a:t/>
            </a:r>
            <a:endParaRPr sz="1260"/>
          </a:p>
        </p:txBody>
      </p:sp>
      <p:pic>
        <p:nvPicPr>
          <p:cNvPr id="148" name="Google Shape;148;p23"/>
          <p:cNvPicPr preferRelativeResize="0"/>
          <p:nvPr/>
        </p:nvPicPr>
        <p:blipFill>
          <a:blip r:embed="rId3">
            <a:alphaModFix/>
          </a:blip>
          <a:stretch>
            <a:fillRect/>
          </a:stretch>
        </p:blipFill>
        <p:spPr>
          <a:xfrm>
            <a:off x="172250" y="1696225"/>
            <a:ext cx="4775524" cy="3920176"/>
          </a:xfrm>
          <a:prstGeom prst="rect">
            <a:avLst/>
          </a:prstGeom>
          <a:noFill/>
          <a:ln>
            <a:noFill/>
          </a:ln>
        </p:spPr>
      </p:pic>
      <p:sp>
        <p:nvSpPr>
          <p:cNvPr id="149" name="Google Shape;149;p23"/>
          <p:cNvSpPr txBox="1"/>
          <p:nvPr>
            <p:ph idx="12" type="sldNum"/>
          </p:nvPr>
        </p:nvSpPr>
        <p:spPr>
          <a:xfrm>
            <a:off x="6553200" y="6356350"/>
            <a:ext cx="2133600" cy="365100"/>
          </a:xfrm>
          <a:prstGeom prst="rect">
            <a:avLst/>
          </a:prstGeom>
        </p:spPr>
        <p:txBody>
          <a:bodyPr anchorCtr="0" anchor="ctr" bIns="45700" lIns="91425" spcFirstLastPara="1" rIns="91425" wrap="square" tIns="45700">
            <a:norm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4"/>
          <p:cNvSpPr txBox="1"/>
          <p:nvPr>
            <p:ph type="title"/>
          </p:nvPr>
        </p:nvSpPr>
        <p:spPr>
          <a:xfrm>
            <a:off x="311700" y="190275"/>
            <a:ext cx="8520600" cy="75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Suggestions</a:t>
            </a:r>
            <a:endParaRPr/>
          </a:p>
        </p:txBody>
      </p:sp>
      <p:sp>
        <p:nvSpPr>
          <p:cNvPr id="155" name="Google Shape;155;p24"/>
          <p:cNvSpPr txBox="1"/>
          <p:nvPr>
            <p:ph idx="1" type="body"/>
          </p:nvPr>
        </p:nvSpPr>
        <p:spPr>
          <a:xfrm>
            <a:off x="311700" y="943575"/>
            <a:ext cx="3999900" cy="5549700"/>
          </a:xfrm>
          <a:prstGeom prst="rect">
            <a:avLst/>
          </a:prstGeom>
          <a:ln cap="flat" cmpd="sng" w="2857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5000"/>
              </a:lnSpc>
              <a:spcBef>
                <a:spcPts val="1400"/>
              </a:spcBef>
              <a:spcAft>
                <a:spcPts val="0"/>
              </a:spcAft>
              <a:buSzPts val="605"/>
              <a:buNone/>
            </a:pPr>
            <a:r>
              <a:rPr b="1" lang="en-US" sz="1014" u="sng">
                <a:latin typeface="Arial"/>
                <a:ea typeface="Arial"/>
                <a:cs typeface="Arial"/>
                <a:sym typeface="Arial"/>
              </a:rPr>
              <a:t>Suggestion for the problems</a:t>
            </a:r>
            <a:endParaRPr b="1" sz="1014" u="sng">
              <a:latin typeface="Arial"/>
              <a:ea typeface="Arial"/>
              <a:cs typeface="Arial"/>
              <a:sym typeface="Arial"/>
            </a:endParaRPr>
          </a:p>
          <a:p>
            <a:pPr indent="0" lvl="0" marL="0" rtl="0" algn="l">
              <a:lnSpc>
                <a:spcPct val="105000"/>
              </a:lnSpc>
              <a:spcBef>
                <a:spcPts val="1400"/>
              </a:spcBef>
              <a:spcAft>
                <a:spcPts val="0"/>
              </a:spcAft>
              <a:buSzPts val="605"/>
              <a:buNone/>
            </a:pPr>
            <a:r>
              <a:rPr b="1" lang="en-US" sz="805">
                <a:latin typeface="Arial"/>
                <a:ea typeface="Arial"/>
                <a:cs typeface="Arial"/>
                <a:sym typeface="Arial"/>
              </a:rPr>
              <a:t>Problem 1: Unclear Spending Patterns</a:t>
            </a:r>
            <a:endParaRPr b="1" sz="805">
              <a:latin typeface="Arial"/>
              <a:ea typeface="Arial"/>
              <a:cs typeface="Arial"/>
              <a:sym typeface="Arial"/>
            </a:endParaRPr>
          </a:p>
          <a:p>
            <a:pPr indent="-279717" lvl="0" marL="457200" rtl="0" algn="l">
              <a:lnSpc>
                <a:spcPct val="105000"/>
              </a:lnSpc>
              <a:spcBef>
                <a:spcPts val="1200"/>
              </a:spcBef>
              <a:spcAft>
                <a:spcPts val="0"/>
              </a:spcAft>
              <a:buClr>
                <a:schemeClr val="dk1"/>
              </a:buClr>
              <a:buSzPts val="805"/>
              <a:buFont typeface="Arial"/>
              <a:buAutoNum type="arabicPeriod"/>
            </a:pPr>
            <a:r>
              <a:rPr lang="en-US" sz="805">
                <a:latin typeface="Arial"/>
                <a:ea typeface="Arial"/>
                <a:cs typeface="Arial"/>
                <a:sym typeface="Arial"/>
              </a:rPr>
              <a:t>Analyze sales data regularly to identify high-demand periods and trends.</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Use demand forecasting to plan inventory for high-demand products and avoid overstocking low-demand ones.</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Categorize products to understand which category contributes the most to revenue and allocate budgets accordingly.</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Align marketing efforts with seasonal demand trends to maximize sales during peak periods.</a:t>
            </a:r>
            <a:endParaRPr sz="805">
              <a:latin typeface="Arial"/>
              <a:ea typeface="Arial"/>
              <a:cs typeface="Arial"/>
              <a:sym typeface="Arial"/>
            </a:endParaRPr>
          </a:p>
          <a:p>
            <a:pPr indent="0" lvl="0" marL="0" rtl="0" algn="l">
              <a:lnSpc>
                <a:spcPct val="105000"/>
              </a:lnSpc>
              <a:spcBef>
                <a:spcPts val="1200"/>
              </a:spcBef>
              <a:spcAft>
                <a:spcPts val="0"/>
              </a:spcAft>
              <a:buSzPts val="605"/>
              <a:buNone/>
            </a:pPr>
            <a:r>
              <a:t/>
            </a:r>
            <a:endParaRPr sz="805">
              <a:latin typeface="Arial"/>
              <a:ea typeface="Arial"/>
              <a:cs typeface="Arial"/>
              <a:sym typeface="Arial"/>
            </a:endParaRPr>
          </a:p>
          <a:p>
            <a:pPr indent="0" lvl="0" marL="0" rtl="0" algn="l">
              <a:lnSpc>
                <a:spcPct val="105000"/>
              </a:lnSpc>
              <a:spcBef>
                <a:spcPts val="1200"/>
              </a:spcBef>
              <a:spcAft>
                <a:spcPts val="0"/>
              </a:spcAft>
              <a:buSzPts val="605"/>
              <a:buNone/>
            </a:pPr>
            <a:r>
              <a:rPr b="1" lang="en-US" sz="805">
                <a:latin typeface="Arial"/>
                <a:ea typeface="Arial"/>
                <a:cs typeface="Arial"/>
                <a:sym typeface="Arial"/>
              </a:rPr>
              <a:t>Problem 2: Frequent Stockouts of Popular Items</a:t>
            </a:r>
            <a:endParaRPr b="1" sz="805">
              <a:latin typeface="Arial"/>
              <a:ea typeface="Arial"/>
              <a:cs typeface="Arial"/>
              <a:sym typeface="Arial"/>
            </a:endParaRPr>
          </a:p>
          <a:p>
            <a:pPr indent="-279717" lvl="0" marL="457200" rtl="0" algn="l">
              <a:lnSpc>
                <a:spcPct val="105000"/>
              </a:lnSpc>
              <a:spcBef>
                <a:spcPts val="1200"/>
              </a:spcBef>
              <a:spcAft>
                <a:spcPts val="0"/>
              </a:spcAft>
              <a:buClr>
                <a:schemeClr val="dk1"/>
              </a:buClr>
              <a:buSzPts val="805"/>
              <a:buFont typeface="Arial"/>
              <a:buAutoNum type="arabicPeriod"/>
            </a:pPr>
            <a:r>
              <a:rPr lang="en-US" sz="805">
                <a:latin typeface="Arial"/>
                <a:ea typeface="Arial"/>
                <a:cs typeface="Arial"/>
                <a:sym typeface="Arial"/>
              </a:rPr>
              <a:t>Calculate reorder points for top-selling products to ensure timely restocking: Reorder Point=(Average Daily Usage×Lead Time)+Safety </a:t>
            </a:r>
            <a:r>
              <a:rPr lang="en-US" sz="805">
                <a:latin typeface="Arial"/>
                <a:ea typeface="Arial"/>
                <a:cs typeface="Arial"/>
                <a:sym typeface="Arial"/>
              </a:rPr>
              <a:t>Stock</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Focus on maintaining inventory for critical products like coffee, sugar, and toiletries.</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Collaborate with multiple suppliers to reduce lead times and avoid delays in replenishing stock.</a:t>
            </a:r>
            <a:endParaRPr sz="805">
              <a:latin typeface="Arial"/>
              <a:ea typeface="Arial"/>
              <a:cs typeface="Arial"/>
              <a:sym typeface="Arial"/>
            </a:endParaRPr>
          </a:p>
          <a:p>
            <a:pPr indent="0" lvl="0" marL="0" rtl="0" algn="l">
              <a:lnSpc>
                <a:spcPct val="105000"/>
              </a:lnSpc>
              <a:spcBef>
                <a:spcPts val="1200"/>
              </a:spcBef>
              <a:spcAft>
                <a:spcPts val="0"/>
              </a:spcAft>
              <a:buSzPts val="605"/>
              <a:buNone/>
            </a:pPr>
            <a:r>
              <a:t/>
            </a:r>
            <a:endParaRPr sz="805">
              <a:latin typeface="Arial"/>
              <a:ea typeface="Arial"/>
              <a:cs typeface="Arial"/>
              <a:sym typeface="Arial"/>
            </a:endParaRPr>
          </a:p>
          <a:p>
            <a:pPr indent="0" lvl="0" marL="0" rtl="0" algn="l">
              <a:lnSpc>
                <a:spcPct val="105000"/>
              </a:lnSpc>
              <a:spcBef>
                <a:spcPts val="1200"/>
              </a:spcBef>
              <a:spcAft>
                <a:spcPts val="0"/>
              </a:spcAft>
              <a:buSzPts val="605"/>
              <a:buNone/>
            </a:pPr>
            <a:r>
              <a:rPr b="1" lang="en-US" sz="805">
                <a:latin typeface="Arial"/>
                <a:ea typeface="Arial"/>
                <a:cs typeface="Arial"/>
                <a:sym typeface="Arial"/>
              </a:rPr>
              <a:t>Problem 3: Ineffective Budget Allocation</a:t>
            </a:r>
            <a:endParaRPr b="1" sz="805">
              <a:latin typeface="Arial"/>
              <a:ea typeface="Arial"/>
              <a:cs typeface="Arial"/>
              <a:sym typeface="Arial"/>
            </a:endParaRPr>
          </a:p>
          <a:p>
            <a:pPr indent="-279717" lvl="0" marL="457200" rtl="0" algn="l">
              <a:lnSpc>
                <a:spcPct val="105000"/>
              </a:lnSpc>
              <a:spcBef>
                <a:spcPts val="1200"/>
              </a:spcBef>
              <a:spcAft>
                <a:spcPts val="0"/>
              </a:spcAft>
              <a:buClr>
                <a:schemeClr val="dk1"/>
              </a:buClr>
              <a:buSzPts val="805"/>
              <a:buFont typeface="Arial"/>
              <a:buAutoNum type="arabicPeriod"/>
            </a:pPr>
            <a:r>
              <a:rPr lang="en-US" sz="805">
                <a:latin typeface="Arial"/>
                <a:ea typeface="Arial"/>
                <a:cs typeface="Arial"/>
                <a:sym typeface="Arial"/>
              </a:rPr>
              <a:t>Reallocate budgets to high-revenue products like "Amul Cheese Grated 1kg" and "Fresh Almonds."</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Increase investment in underfunded but high-performing products to further boost sales.</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Maintain steady budget allocation for balanced products that align with their revenue contribution.</a:t>
            </a:r>
            <a:endParaRPr sz="805">
              <a:latin typeface="Arial"/>
              <a:ea typeface="Arial"/>
              <a:cs typeface="Arial"/>
              <a:sym typeface="Arial"/>
            </a:endParaRPr>
          </a:p>
          <a:p>
            <a:pPr indent="-279717" lvl="0" marL="457200" rtl="0" algn="l">
              <a:lnSpc>
                <a:spcPct val="105000"/>
              </a:lnSpc>
              <a:spcBef>
                <a:spcPts val="0"/>
              </a:spcBef>
              <a:spcAft>
                <a:spcPts val="0"/>
              </a:spcAft>
              <a:buClr>
                <a:schemeClr val="dk1"/>
              </a:buClr>
              <a:buSzPts val="805"/>
              <a:buFont typeface="Arial"/>
              <a:buAutoNum type="arabicPeriod"/>
            </a:pPr>
            <a:r>
              <a:rPr lang="en-US" sz="805">
                <a:latin typeface="Arial"/>
                <a:ea typeface="Arial"/>
                <a:cs typeface="Arial"/>
                <a:sym typeface="Arial"/>
              </a:rPr>
              <a:t>Reduce spending on low-performing products and redirect funds to high-demand items.</a:t>
            </a:r>
            <a:endParaRPr sz="805">
              <a:latin typeface="Arial"/>
              <a:ea typeface="Arial"/>
              <a:cs typeface="Arial"/>
              <a:sym typeface="Arial"/>
            </a:endParaRPr>
          </a:p>
          <a:p>
            <a:pPr indent="0" lvl="0" marL="0" rtl="0" algn="l">
              <a:lnSpc>
                <a:spcPct val="105000"/>
              </a:lnSpc>
              <a:spcBef>
                <a:spcPts val="1200"/>
              </a:spcBef>
              <a:spcAft>
                <a:spcPts val="1200"/>
              </a:spcAft>
              <a:buSzPts val="605"/>
              <a:buNone/>
            </a:pPr>
            <a:r>
              <a:t/>
            </a:r>
            <a:endParaRPr sz="770"/>
          </a:p>
        </p:txBody>
      </p:sp>
      <p:sp>
        <p:nvSpPr>
          <p:cNvPr id="156" name="Google Shape;156;p24"/>
          <p:cNvSpPr txBox="1"/>
          <p:nvPr>
            <p:ph idx="2" type="body"/>
          </p:nvPr>
        </p:nvSpPr>
        <p:spPr>
          <a:xfrm>
            <a:off x="4832400" y="943575"/>
            <a:ext cx="3999900" cy="5470500"/>
          </a:xfrm>
          <a:prstGeom prst="rect">
            <a:avLst/>
          </a:prstGeom>
          <a:ln cap="flat" cmpd="sng" w="38100">
            <a:solidFill>
              <a:srgbClr val="000000"/>
            </a:solidFill>
            <a:prstDash val="solid"/>
            <a:round/>
            <a:headEnd len="sm" w="sm" type="none"/>
            <a:tailEnd len="sm" w="sm" type="none"/>
          </a:ln>
        </p:spPr>
        <p:txBody>
          <a:bodyPr anchorCtr="0" anchor="t" bIns="91425" lIns="91425" spcFirstLastPara="1" rIns="91425" wrap="square" tIns="91425">
            <a:normAutofit fontScale="77500" lnSpcReduction="20000"/>
          </a:bodyPr>
          <a:lstStyle/>
          <a:p>
            <a:pPr indent="0" lvl="0" marL="0" rtl="0" algn="l">
              <a:spcBef>
                <a:spcPts val="1400"/>
              </a:spcBef>
              <a:spcAft>
                <a:spcPts val="0"/>
              </a:spcAft>
              <a:buNone/>
            </a:pPr>
            <a:r>
              <a:rPr b="1" lang="en-US" sz="1300" u="sng">
                <a:latin typeface="Arial"/>
                <a:ea typeface="Arial"/>
                <a:cs typeface="Arial"/>
                <a:sym typeface="Arial"/>
              </a:rPr>
              <a:t>Additional Suggestions</a:t>
            </a:r>
            <a:endParaRPr b="1" sz="1300" u="sng">
              <a:latin typeface="Arial"/>
              <a:ea typeface="Arial"/>
              <a:cs typeface="Arial"/>
              <a:sym typeface="Arial"/>
            </a:endParaRPr>
          </a:p>
          <a:p>
            <a:pPr indent="0" lvl="0" marL="0" rtl="0" algn="l">
              <a:spcBef>
                <a:spcPts val="1200"/>
              </a:spcBef>
              <a:spcAft>
                <a:spcPts val="0"/>
              </a:spcAft>
              <a:buNone/>
            </a:pPr>
            <a:r>
              <a:rPr b="1" lang="en-US" sz="1100">
                <a:latin typeface="Arial"/>
                <a:ea typeface="Arial"/>
                <a:cs typeface="Arial"/>
                <a:sym typeface="Arial"/>
              </a:rPr>
              <a:t>Expand Product Variety</a:t>
            </a:r>
            <a:endParaRPr b="1" sz="1100">
              <a:latin typeface="Arial"/>
              <a:ea typeface="Arial"/>
              <a:cs typeface="Arial"/>
              <a:sym typeface="Arial"/>
            </a:endParaRPr>
          </a:p>
          <a:p>
            <a:pPr indent="-282733" lvl="0" marL="457200" rtl="0" algn="l">
              <a:spcBef>
                <a:spcPts val="1200"/>
              </a:spcBef>
              <a:spcAft>
                <a:spcPts val="0"/>
              </a:spcAft>
              <a:buClr>
                <a:schemeClr val="dk1"/>
              </a:buClr>
              <a:buSzPct val="100000"/>
              <a:buFont typeface="Arial"/>
              <a:buChar char="●"/>
            </a:pPr>
            <a:r>
              <a:rPr lang="en-US" sz="1100">
                <a:latin typeface="Arial"/>
                <a:ea typeface="Arial"/>
                <a:cs typeface="Arial"/>
                <a:sym typeface="Arial"/>
              </a:rPr>
              <a:t>Introduce new items based on customer preferences or seasonal trends to attract more buyers.</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Replace low-demand products with high-demand or trending items to optimize inventory and increase sales.</a:t>
            </a:r>
            <a:endParaRPr sz="1100">
              <a:latin typeface="Arial"/>
              <a:ea typeface="Arial"/>
              <a:cs typeface="Arial"/>
              <a:sym typeface="Arial"/>
            </a:endParaRPr>
          </a:p>
          <a:p>
            <a:pPr indent="0" lvl="0" marL="0" rtl="0" algn="l">
              <a:spcBef>
                <a:spcPts val="1200"/>
              </a:spcBef>
              <a:spcAft>
                <a:spcPts val="0"/>
              </a:spcAft>
              <a:buNone/>
            </a:pPr>
            <a:r>
              <a:rPr b="1" lang="en-US" sz="1100">
                <a:latin typeface="Arial"/>
                <a:ea typeface="Arial"/>
                <a:cs typeface="Arial"/>
                <a:sym typeface="Arial"/>
              </a:rPr>
              <a:t>Offer Discounts and Promotions</a:t>
            </a:r>
            <a:endParaRPr b="1" sz="1100">
              <a:latin typeface="Arial"/>
              <a:ea typeface="Arial"/>
              <a:cs typeface="Arial"/>
              <a:sym typeface="Arial"/>
            </a:endParaRPr>
          </a:p>
          <a:p>
            <a:pPr indent="-282733" lvl="0" marL="457200" rtl="0" algn="l">
              <a:spcBef>
                <a:spcPts val="1200"/>
              </a:spcBef>
              <a:spcAft>
                <a:spcPts val="0"/>
              </a:spcAft>
              <a:buClr>
                <a:schemeClr val="dk1"/>
              </a:buClr>
              <a:buSzPct val="100000"/>
              <a:buFont typeface="Arial"/>
              <a:buChar char="●"/>
            </a:pPr>
            <a:r>
              <a:rPr lang="en-US" sz="1100">
                <a:latin typeface="Arial"/>
                <a:ea typeface="Arial"/>
                <a:cs typeface="Arial"/>
                <a:sym typeface="Arial"/>
              </a:rPr>
              <a:t>Run discounts during slow seasons or on slow-moving stock to boost sales and clear inventory.</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Bundle products to encourage customers to buy complementary items, increasing overall revenue.</a:t>
            </a:r>
            <a:endParaRPr sz="1100">
              <a:latin typeface="Arial"/>
              <a:ea typeface="Arial"/>
              <a:cs typeface="Arial"/>
              <a:sym typeface="Arial"/>
            </a:endParaRPr>
          </a:p>
          <a:p>
            <a:pPr indent="0" lvl="0" marL="0" rtl="0" algn="l">
              <a:spcBef>
                <a:spcPts val="1200"/>
              </a:spcBef>
              <a:spcAft>
                <a:spcPts val="0"/>
              </a:spcAft>
              <a:buNone/>
            </a:pPr>
            <a:r>
              <a:rPr b="1" lang="en-US" sz="1100">
                <a:latin typeface="Arial"/>
                <a:ea typeface="Arial"/>
                <a:cs typeface="Arial"/>
                <a:sym typeface="Arial"/>
              </a:rPr>
              <a:t>Leverage Customer Feedback</a:t>
            </a:r>
            <a:endParaRPr b="1" sz="1100">
              <a:latin typeface="Arial"/>
              <a:ea typeface="Arial"/>
              <a:cs typeface="Arial"/>
              <a:sym typeface="Arial"/>
            </a:endParaRPr>
          </a:p>
          <a:p>
            <a:pPr indent="-282733" lvl="0" marL="457200" rtl="0" algn="l">
              <a:spcBef>
                <a:spcPts val="1200"/>
              </a:spcBef>
              <a:spcAft>
                <a:spcPts val="0"/>
              </a:spcAft>
              <a:buClr>
                <a:schemeClr val="dk1"/>
              </a:buClr>
              <a:buSzPct val="100000"/>
              <a:buFont typeface="Arial"/>
              <a:buChar char="●"/>
            </a:pPr>
            <a:r>
              <a:rPr lang="en-US" sz="1100">
                <a:latin typeface="Arial"/>
                <a:ea typeface="Arial"/>
                <a:cs typeface="Arial"/>
                <a:sym typeface="Arial"/>
              </a:rPr>
              <a:t>Collect and use customer suggestions to improve product selection and services.</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Reward loyal customers with discounts, perks, or exclusive offers to build stronger relationships.</a:t>
            </a:r>
            <a:endParaRPr sz="1100">
              <a:latin typeface="Arial"/>
              <a:ea typeface="Arial"/>
              <a:cs typeface="Arial"/>
              <a:sym typeface="Arial"/>
            </a:endParaRPr>
          </a:p>
          <a:p>
            <a:pPr indent="0" lvl="0" marL="0" rtl="0" algn="l">
              <a:spcBef>
                <a:spcPts val="1200"/>
              </a:spcBef>
              <a:spcAft>
                <a:spcPts val="0"/>
              </a:spcAft>
              <a:buNone/>
            </a:pPr>
            <a:r>
              <a:rPr b="1" lang="en-US" sz="1100">
                <a:latin typeface="Arial"/>
                <a:ea typeface="Arial"/>
                <a:cs typeface="Arial"/>
                <a:sym typeface="Arial"/>
              </a:rPr>
              <a:t>Improve Customer Experience</a:t>
            </a:r>
            <a:endParaRPr b="1" sz="1100">
              <a:latin typeface="Arial"/>
              <a:ea typeface="Arial"/>
              <a:cs typeface="Arial"/>
              <a:sym typeface="Arial"/>
            </a:endParaRPr>
          </a:p>
          <a:p>
            <a:pPr indent="-282733" lvl="0" marL="457200" rtl="0" algn="l">
              <a:spcBef>
                <a:spcPts val="1200"/>
              </a:spcBef>
              <a:spcAft>
                <a:spcPts val="0"/>
              </a:spcAft>
              <a:buClr>
                <a:schemeClr val="dk1"/>
              </a:buClr>
              <a:buSzPct val="100000"/>
              <a:buFont typeface="Arial"/>
              <a:buChar char="●"/>
            </a:pPr>
            <a:r>
              <a:rPr lang="en-US" sz="1100">
                <a:latin typeface="Arial"/>
                <a:ea typeface="Arial"/>
                <a:cs typeface="Arial"/>
                <a:sym typeface="Arial"/>
              </a:rPr>
              <a:t>Keep the store clean, well-organized, and easy to navigate to ensure a pleasant shopping experience.</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Train staff to provide friendly and helpful customer service, fostering customer loyalty.</a:t>
            </a:r>
            <a:endParaRPr sz="1100">
              <a:latin typeface="Arial"/>
              <a:ea typeface="Arial"/>
              <a:cs typeface="Arial"/>
              <a:sym typeface="Arial"/>
            </a:endParaRPr>
          </a:p>
          <a:p>
            <a:pPr indent="0" lvl="0" marL="0" rtl="0" algn="l">
              <a:spcBef>
                <a:spcPts val="1200"/>
              </a:spcBef>
              <a:spcAft>
                <a:spcPts val="0"/>
              </a:spcAft>
              <a:buNone/>
            </a:pPr>
            <a:r>
              <a:rPr b="1" lang="en-US" sz="1100">
                <a:latin typeface="Arial"/>
                <a:ea typeface="Arial"/>
                <a:cs typeface="Arial"/>
                <a:sym typeface="Arial"/>
              </a:rPr>
              <a:t>Flexible Supply Chain</a:t>
            </a:r>
            <a:endParaRPr b="1" sz="1100">
              <a:latin typeface="Arial"/>
              <a:ea typeface="Arial"/>
              <a:cs typeface="Arial"/>
              <a:sym typeface="Arial"/>
            </a:endParaRPr>
          </a:p>
          <a:p>
            <a:pPr indent="-282733" lvl="0" marL="457200" rtl="0" algn="l">
              <a:spcBef>
                <a:spcPts val="1200"/>
              </a:spcBef>
              <a:spcAft>
                <a:spcPts val="0"/>
              </a:spcAft>
              <a:buClr>
                <a:schemeClr val="dk1"/>
              </a:buClr>
              <a:buSzPct val="100000"/>
              <a:buFont typeface="Arial"/>
              <a:buChar char="●"/>
            </a:pPr>
            <a:r>
              <a:rPr lang="en-US" sz="1100">
                <a:latin typeface="Arial"/>
                <a:ea typeface="Arial"/>
                <a:cs typeface="Arial"/>
                <a:sym typeface="Arial"/>
              </a:rPr>
              <a:t>Work with multiple suppliers to ensure consistent stock availability and reduce dependency on single vendors.</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Negotiate shorter lead times and better prices for bulk purchases to save costs.</a:t>
            </a:r>
            <a:endParaRPr sz="1100">
              <a:latin typeface="Arial"/>
              <a:ea typeface="Arial"/>
              <a:cs typeface="Arial"/>
              <a:sym typeface="Arial"/>
            </a:endParaRPr>
          </a:p>
          <a:p>
            <a:pPr indent="-282733" lvl="0" marL="457200" rtl="0" algn="l">
              <a:spcBef>
                <a:spcPts val="0"/>
              </a:spcBef>
              <a:spcAft>
                <a:spcPts val="0"/>
              </a:spcAft>
              <a:buClr>
                <a:schemeClr val="dk1"/>
              </a:buClr>
              <a:buSzPct val="100000"/>
              <a:buFont typeface="Arial"/>
              <a:buChar char="●"/>
            </a:pPr>
            <a:r>
              <a:rPr lang="en-US" sz="1100">
                <a:latin typeface="Arial"/>
                <a:ea typeface="Arial"/>
                <a:cs typeface="Arial"/>
                <a:sym typeface="Arial"/>
              </a:rPr>
              <a:t>Build a supply chain system that quickly adapts to unexpected demand changes, ensuring the store remains well-stocked.</a:t>
            </a:r>
            <a:endParaRPr sz="1100">
              <a:latin typeface="Arial"/>
              <a:ea typeface="Arial"/>
              <a:cs typeface="Arial"/>
              <a:sym typeface="Arial"/>
            </a:endParaRPr>
          </a:p>
          <a:p>
            <a:pPr indent="0" lvl="0" marL="0" rtl="0" algn="l">
              <a:spcBef>
                <a:spcPts val="1200"/>
              </a:spcBef>
              <a:spcAft>
                <a:spcPts val="1200"/>
              </a:spcAft>
              <a:buNone/>
            </a:pPr>
            <a:r>
              <a:t/>
            </a:r>
            <a:endParaRPr b="1" sz="800">
              <a:latin typeface="Arial"/>
              <a:ea typeface="Arial"/>
              <a:cs typeface="Arial"/>
              <a:sym typeface="Arial"/>
            </a:endParaRPr>
          </a:p>
        </p:txBody>
      </p:sp>
      <p:sp>
        <p:nvSpPr>
          <p:cNvPr id="157" name="Google Shape;157;p2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lue &amp; Gold">
  <a:themeElements>
    <a:clrScheme name="Blue &amp; Gold">
      <a:dk1>
        <a:srgbClr val="FFFFFF"/>
      </a:dk1>
      <a:lt1>
        <a:srgbClr val="01AFD1"/>
      </a:lt1>
      <a:dk2>
        <a:srgbClr val="1E2D31"/>
      </a:dk2>
      <a:lt2>
        <a:srgbClr val="BFC7CA"/>
      </a:lt2>
      <a:accent1>
        <a:srgbClr val="006F85"/>
      </a:accent1>
      <a:accent2>
        <a:srgbClr val="AF4345"/>
      </a:accent2>
      <a:accent3>
        <a:srgbClr val="47D06A"/>
      </a:accent3>
      <a:accent4>
        <a:srgbClr val="F58F8F"/>
      </a:accent4>
      <a:accent5>
        <a:srgbClr val="F6CD4C"/>
      </a:accent5>
      <a:accent6>
        <a:srgbClr val="F8E71C"/>
      </a:accent6>
      <a:hlink>
        <a:srgbClr val="F6CD4C"/>
      </a:hlink>
      <a:folHlink>
        <a:srgbClr val="F6CD4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